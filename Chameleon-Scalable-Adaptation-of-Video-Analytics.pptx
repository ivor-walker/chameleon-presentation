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4"/>
  </p:sldMasterIdLst>
  <p:notesMasterIdLst>
    <p:notesMasterId r:id="rId40"/>
  </p:notesMasterIdLst>
  <p:sldIdLst>
    <p:sldId id="289" r:id="rId5"/>
    <p:sldId id="277" r:id="rId6"/>
    <p:sldId id="290" r:id="rId7"/>
    <p:sldId id="296" r:id="rId8"/>
    <p:sldId id="291" r:id="rId9"/>
    <p:sldId id="298" r:id="rId10"/>
    <p:sldId id="258" r:id="rId11"/>
    <p:sldId id="299" r:id="rId12"/>
    <p:sldId id="260" r:id="rId13"/>
    <p:sldId id="274" r:id="rId14"/>
    <p:sldId id="275" r:id="rId15"/>
    <p:sldId id="276" r:id="rId16"/>
    <p:sldId id="300" r:id="rId17"/>
    <p:sldId id="259" r:id="rId18"/>
    <p:sldId id="292" r:id="rId19"/>
    <p:sldId id="293" r:id="rId20"/>
    <p:sldId id="273" r:id="rId21"/>
    <p:sldId id="294" r:id="rId22"/>
    <p:sldId id="301" r:id="rId23"/>
    <p:sldId id="257" r:id="rId24"/>
    <p:sldId id="264" r:id="rId25"/>
    <p:sldId id="280" r:id="rId26"/>
    <p:sldId id="307" r:id="rId27"/>
    <p:sldId id="304" r:id="rId28"/>
    <p:sldId id="302" r:id="rId29"/>
    <p:sldId id="295" r:id="rId30"/>
    <p:sldId id="271" r:id="rId31"/>
    <p:sldId id="287" r:id="rId32"/>
    <p:sldId id="279" r:id="rId33"/>
    <p:sldId id="308" r:id="rId34"/>
    <p:sldId id="278" r:id="rId35"/>
    <p:sldId id="311" r:id="rId36"/>
    <p:sldId id="312" r:id="rId37"/>
    <p:sldId id="297" r:id="rId38"/>
    <p:sldId id="30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DD48E-54D7-D3F9-4A76-DFF86267F071}" v="373" dt="2025-04-13T18:05:53.266"/>
    <p1510:client id="{AE04716C-D242-4FE0-890F-0A6FCE18C418}" v="1" dt="2025-04-13T10:15:47.223"/>
    <p1510:client id="{BCE6EA31-7428-4F3C-B25B-4A5FF729E919}" v="5555" dt="2025-04-14T05:54:28.894"/>
    <p1510:client id="{F8D9F053-8973-8646-04C1-3F1DB678C90A}" v="105" dt="2025-04-14T00:17:33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8597F-21A0-4EB6-A58D-DC7A13C6F2C3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215B9-EA2C-46E2-9AA1-DC7FEEA79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62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1F40-118D-8893-FA3B-DD0FD719E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1F770-A3FB-E040-A67D-07429481B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90501-2F3A-76D5-4360-EA587F8B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C2299-7286-8B6D-949B-1902F4B9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1A80D-04C6-6E26-0706-B5EFBD03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01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D2FD-4816-7FB9-3CED-1A739F5E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70"/>
            <a:ext cx="9906171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1350-D4FC-C0CC-DA71-2D58ED477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AA128-96CC-29CF-48CB-330BE54DB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3AC49-9F98-AD3B-1235-F44AE0A3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7A493-B6E5-41CE-362B-A18778CC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16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E7D1-A95E-79D4-A7FF-66EB056B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C974C-6313-6B36-F7AE-380B00F47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DC3FB-685B-D83E-E119-009014B8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7314-B3AD-6727-CA98-7A354640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6EE2-FB76-9600-4B18-229AF4C2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512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93268-EAA6-7332-0ACA-31A5CEAEB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0549B-4012-0CD5-D8EC-5FAC132B7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05BA6-F41F-A0B5-A8B6-55B71AC2F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71BE8-5519-41B9-2163-AE940B07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93BCC-134F-48D0-4D78-2DB20E63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7F1AB-F77D-E855-B5AA-004C141D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21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695A-3DBD-37FE-BD16-70F7A07A3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54488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8F4AA-0E9D-644B-4765-848FC21F0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A3ACE-C640-A62F-F7C3-8C029FCE3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A9CAE-C443-E851-7846-1E8B7EE00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6C16E-D320-CD25-BF2B-41EDFB22B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45DC0-BE0B-2631-D7D2-585F30D5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36CED-08EC-1D61-9007-0BC6C2D46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BF8AA-D098-C15B-261E-F8153F9F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78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5B25-7542-0946-A92F-E19B8209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DE492-01CB-6DA4-66EB-06051ADF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C9C22-E97D-6B77-A11B-237E6462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42973-7114-DD1E-7FCB-7372B6EF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9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0650E5-B74A-E261-0039-F3FB39B0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B8F2B2-C78C-6052-1D68-06CCE3A9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A4B2C-402F-9DFA-4006-EE745C0F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02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53BD-E071-8629-8951-6C3B513D5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0E62-C2BC-EEB1-3C16-B9B2F6460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CB2AA-8386-DDBC-FF7A-B83C2DAE1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774D0-4577-4A22-866A-7407AB1A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0B40C-B91E-E3ED-E75D-B696171E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EFFA8-5F2D-E1E4-7BB3-7081FD56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968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57DA6-B452-7D4B-89C6-F09BA62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6624D6-CF97-3F23-8536-04C50C6FC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479CF-5E75-130D-916E-D2D0C6615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035FC-F928-3A0F-79CD-78EBE0C2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ECC57-CF53-C7BD-D56B-345AFACE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CDFA9-7210-3A1B-05FD-9ADD8886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30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3C67-286A-3ABC-7F6C-560074FC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C997D-78F5-4F5B-B7E3-1AB71F01B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D78F8-381C-8D7C-05E6-9185CD5A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E32CA-B5E9-8E2E-C16F-C5567D1D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DA491-6406-FB01-AB47-74B154A2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287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CC9E4A-D18A-77B4-ED91-8F89D9E86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06E61-B233-36EE-D6E1-4EB65B772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0804-7C85-BF6E-C1FE-45A73D34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C18C5-2BDF-4CE2-4CA7-DD92B2A4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E53D-90E6-162E-97B3-5F960ABE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17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B18D52-14EE-3E56-6D23-BFDB5445E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508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1697C-9909-8DF4-06E9-95C5C7DFC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F255E-E1F5-48B7-4092-474E51F54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Monday 14th April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460E3-15ED-61A7-FC38-8BDAD33D4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35101-C77F-FE4B-0979-D341F6DEF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5341D-FE04-4749-9257-9566869387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63DB3D-36E6-8729-4A41-390A7C8ED84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020" y="-53100"/>
            <a:ext cx="1502980" cy="187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2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riefcam.com/" TargetMode="External"/><Relationship Id="rId3" Type="http://schemas.openxmlformats.org/officeDocument/2006/relationships/hyperlink" Target="https://www.alibaba.com/showroom/vga-cmos-image-sensor.html" TargetMode="External"/><Relationship Id="rId7" Type="http://schemas.openxmlformats.org/officeDocument/2006/relationships/hyperlink" Target="https://www.onvif.org/profiles/profile-g/" TargetMode="External"/><Relationship Id="rId2" Type="http://schemas.openxmlformats.org/officeDocument/2006/relationships/hyperlink" Target="https://www.usenix.org/conference/osdi18/presentation/hsie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905.13536" TargetMode="External"/><Relationship Id="rId5" Type="http://schemas.openxmlformats.org/officeDocument/2006/relationships/hyperlink" Target="https://www.usenix.org/conference/nsdi17/technical-sessions/presentation/zhang" TargetMode="External"/><Relationship Id="rId4" Type="http://schemas.openxmlformats.org/officeDocument/2006/relationships/hyperlink" Target="https://arxiv.org/abs/1611.0645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985B-7D8D-E1C2-A338-E9BDACE4D8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0" lang="en-US" altLang="en-US" sz="4800" b="0" i="0" u="none" strike="noStrike" cap="none" normalizeH="0" baseline="0" dirty="0">
                <a:ln>
                  <a:noFill/>
                </a:ln>
                <a:effectLst/>
                <a:latin typeface="Segoe UI"/>
                <a:cs typeface="Segoe UI"/>
              </a:rPr>
              <a:t>Chameleon: Scalable Adaptation of Video Analytics</a:t>
            </a:r>
            <a:br>
              <a:rPr lang="en-US" altLang="en-US" sz="4800" dirty="0">
                <a:latin typeface="Segoe UI"/>
                <a:cs typeface="Segoe UI"/>
              </a:rPr>
            </a:br>
            <a:r>
              <a:rPr lang="en-US" altLang="en-US" sz="3600" dirty="0">
                <a:latin typeface="Segoe UI"/>
                <a:cs typeface="Segoe UI"/>
              </a:rPr>
              <a:t>(Strengths)</a:t>
            </a:r>
            <a:r>
              <a:rPr lang="en-US" altLang="en-US" sz="4800" dirty="0">
                <a:latin typeface="Segoe UI"/>
                <a:cs typeface="Segoe UI"/>
              </a:rPr>
              <a:t> </a:t>
            </a:r>
            <a:endParaRPr lang="en-GB" sz="4800" b="1" dirty="0">
              <a:latin typeface="Segoe UI"/>
              <a:cs typeface="Segoe U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0881C-960A-314E-BD3F-1E4F727AB5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CS5052: Data-Intensive Systems</a:t>
            </a:r>
          </a:p>
          <a:p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Dylan Piercy &amp; Ivor Walker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37F798E8-D9AC-87DC-0A2E-98C0C0744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01471B7-F5BF-E5CE-63A2-2C258C52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BAF7E75-D35F-2B56-A602-990C47F4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423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D774-05E2-AC4D-5BEB-EF3C4B5E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D1B14-41E4-EDCE-9A9D-01814A6C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58AE3-813E-60ED-B2E6-E535CB07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8D84-E7AC-6729-C68D-247909A55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2</a:t>
            </a:fld>
            <a:endParaRPr lang="en-GB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89403FB-6FF3-49CF-FC12-7142E5D5FA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Chameleon?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>
                <a:latin typeface="Times New Roman"/>
                <a:cs typeface="Times New Roman"/>
              </a:rPr>
              <a:t>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A video analytics system that dynamically adapts to changing video content in real-time.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>
                <a:latin typeface="Times New Roman"/>
                <a:cs typeface="Times New Roman"/>
              </a:rPr>
              <a:t>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Optimizes resource usage to be minimal (CPU, GPU, bandwidth) while maintaining high accuracy.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GB" sz="2000">
                <a:latin typeface="Times New Roman"/>
                <a:cs typeface="Times New Roman"/>
              </a:rPr>
              <a:t> Avoids expensive profiling overhead through intelligent adaptation.</a:t>
            </a:r>
          </a:p>
        </p:txBody>
      </p:sp>
    </p:spTree>
    <p:extLst>
      <p:ext uri="{BB962C8B-B14F-4D97-AF65-F5344CB8AC3E}">
        <p14:creationId xmlns:p14="http://schemas.microsoft.com/office/powerpoint/2010/main" val="152978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0483-6102-B621-B8DC-B40242EC9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397"/>
            <a:ext cx="9906171" cy="1325563"/>
          </a:xfrm>
        </p:spPr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5FC63-E2E3-9ACC-1985-A3C3BEE33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960"/>
            <a:ext cx="10515600" cy="191175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indent="0">
              <a:buNone/>
            </a:pPr>
            <a:r>
              <a:rPr lang="en-GB" sz="24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2400" b="1" i="1" kern="10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ore</a:t>
            </a:r>
            <a:r>
              <a:rPr lang="en-GB" sz="24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Question</a:t>
            </a:r>
            <a:endParaRPr lang="en-GB" sz="1800" b="1" i="1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2000" i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How can we frequently adapt video analytics pipelines to dynamically changing video content, achieving the best possible resource-accuracy trade-off,</a:t>
            </a:r>
            <a:br>
              <a:rPr lang="en-GB" sz="2000" i="1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GB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without the overhead of exhaustive profiling</a:t>
            </a:r>
            <a:r>
              <a:rPr lang="en-GB" sz="2000" i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</a:t>
            </a:r>
            <a:endParaRPr lang="en-GB" sz="2000" i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54EB3-042F-9421-4AF0-D47BE03E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4098A-C778-B54C-299A-7D46B1794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E7B30-8504-5A59-CA17-406014F4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9CB89-DC41-4E16-9BA9-0243061BEBE7}"/>
              </a:ext>
            </a:extLst>
          </p:cNvPr>
          <p:cNvSpPr txBox="1"/>
          <p:nvPr/>
        </p:nvSpPr>
        <p:spPr>
          <a:xfrm>
            <a:off x="838200" y="3709668"/>
            <a:ext cx="10515600" cy="2043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2200" b="1" i="1" kern="10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 </a:t>
            </a: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Matters</a:t>
            </a:r>
            <a:endParaRPr lang="en-GB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video analytics operate in: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Smart city deployments (thousands of cameras).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Resource-constrained cloud &amp; edge environments.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Highly dynamic workloads (traffic, lighting, object density).</a:t>
            </a:r>
          </a:p>
        </p:txBody>
      </p:sp>
    </p:spTree>
    <p:extLst>
      <p:ext uri="{BB962C8B-B14F-4D97-AF65-F5344CB8AC3E}">
        <p14:creationId xmlns:p14="http://schemas.microsoft.com/office/powerpoint/2010/main" val="383695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4249-69EA-CB5A-8D17-886B0676F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B542-F81F-87DA-DB29-13DF51DA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Segoe UI"/>
                <a:cs typeface="Segoe UI"/>
              </a:rPr>
              <a:t>Strengths of Chameleon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67B33-5B27-EC25-D87C-5E2C42DE4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8BF28-9344-A1F4-D1C2-81673D4B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D994F-DAF8-3CB3-1EA5-8C66802C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4</a:t>
            </a:fld>
            <a:endParaRPr lang="en-GB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2DBF549-22A6-5D0E-E16E-1467E57530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 i="1" kern="100">
                <a:solidFill>
                  <a:srgbClr val="2F5496"/>
                </a:solidFill>
                <a:latin typeface="Times New Roman"/>
                <a:cs typeface="Times New Roman"/>
              </a:rPr>
              <a:t>5 Core Strengths to Chameleon:</a:t>
            </a:r>
            <a:endParaRPr lang="en-GB" b="1" i="1" u="none" strike="noStrike" kern="100" cap="none" normalizeH="0" baseline="0">
              <a:ln>
                <a:noFill/>
              </a:ln>
              <a:solidFill>
                <a:srgbClr val="2F5496"/>
              </a:solidFill>
              <a:effectLst/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b="1" i="1" kern="100">
              <a:solidFill>
                <a:srgbClr val="2F5496"/>
              </a:solidFill>
              <a:latin typeface="Times New Roman"/>
              <a:cs typeface="Times New Roman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Strength 1 </a:t>
            </a:r>
            <a:r>
              <a:rPr lang="en-GB">
                <a:latin typeface="Times New Roman"/>
                <a:cs typeface="Times New Roman"/>
              </a:rPr>
              <a:t>—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GB">
                <a:latin typeface="Times New Roman"/>
                <a:cs typeface="Times New Roman"/>
              </a:rPr>
              <a:t>Temporal Correlation Optimisation</a:t>
            </a:r>
            <a:endParaRPr lang="en-US"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 Strength 2 </a:t>
            </a:r>
            <a:r>
              <a:rPr lang="en-GB">
                <a:latin typeface="Times New Roman"/>
                <a:cs typeface="Times New Roman"/>
              </a:rPr>
              <a:t>—</a:t>
            </a:r>
            <a:r>
              <a:rPr lang="en-US">
                <a:latin typeface="Times New Roman"/>
                <a:cs typeface="Times New Roman"/>
              </a:rPr>
              <a:t> Spatial </a:t>
            </a:r>
            <a:r>
              <a:rPr lang="en-GB">
                <a:latin typeface="Times New Roman"/>
                <a:cs typeface="Times New Roman"/>
              </a:rPr>
              <a:t>Correlation Optimisation</a:t>
            </a:r>
            <a:endParaRPr lang="en-US"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 Strength 3 </a:t>
            </a:r>
            <a:r>
              <a:rPr lang="en-GB">
                <a:latin typeface="Times New Roman"/>
                <a:cs typeface="Times New Roman"/>
              </a:rPr>
              <a:t>—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GB">
                <a:latin typeface="Times New Roman"/>
                <a:cs typeface="Times New Roman"/>
              </a:rPr>
              <a:t>Smart Profiling Using Knob Independence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v"/>
            </a:pPr>
            <a:r>
              <a:rPr lang="en-GB">
                <a:latin typeface="Times New Roman"/>
                <a:cs typeface="Times New Roman"/>
              </a:rPr>
              <a:t> Strength 4 — Enables Dynamic Profiling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GB">
                <a:latin typeface="Times New Roman"/>
                <a:cs typeface="Times New Roman"/>
              </a:rPr>
              <a:t> Strength 5 — Generalisable Solution</a:t>
            </a:r>
          </a:p>
        </p:txBody>
      </p:sp>
    </p:spTree>
    <p:extLst>
      <p:ext uri="{BB962C8B-B14F-4D97-AF65-F5344CB8AC3E}">
        <p14:creationId xmlns:p14="http://schemas.microsoft.com/office/powerpoint/2010/main" val="263227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9F38-A985-C96D-33FA-4348820E3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>
                <a:latin typeface="Segoe UI" panose="020B0502040204020203" pitchFamily="34" charset="0"/>
                <a:cs typeface="Segoe UI" panose="020B0502040204020203" pitchFamily="34" charset="0"/>
              </a:rPr>
              <a:t>Dynamic Adaptation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FEE50-D897-87CB-6F27-66504D18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5986-DE8D-4274-3C14-55F342B6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E02-D733-30FD-027E-8690AD87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5</a:t>
            </a:fld>
            <a:endParaRPr lang="en-GB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D17F92C-7AF2-F9AB-290E-589BF493A6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37452"/>
            <a:ext cx="7803739" cy="3583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sz="2400" b="1" i="1" kern="100">
                <a:solidFill>
                  <a:srgbClr val="2F5496"/>
                </a:solidFill>
                <a:latin typeface="Times New Roman"/>
                <a:ea typeface="Times New Roman" panose="02020603050405020304" pitchFamily="18" charset="0"/>
                <a:cs typeface="Times New Roman"/>
              </a:rPr>
              <a:t>Problem with Previous Systems</a:t>
            </a:r>
            <a:endParaRPr lang="en-US" altLang="en-US" sz="2400" b="1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Earlier</a:t>
            </a:r>
            <a:r>
              <a:rPr lang="en-GB" sz="2000">
                <a:latin typeface="Times New Roman"/>
                <a:cs typeface="Times New Roman"/>
              </a:rPr>
              <a:t> video analytics systems relied on static, one-time configurations.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>
                <a:latin typeface="Times New Roman"/>
                <a:cs typeface="Times New Roman"/>
              </a:rPr>
              <a:t>Unable to adapt to real-world dynamics. </a:t>
            </a:r>
          </a:p>
          <a:p>
            <a:pPr lvl="1"/>
            <a:r>
              <a:rPr lang="en-GB" sz="2000">
                <a:latin typeface="Times New Roman"/>
                <a:cs typeface="Times New Roman"/>
              </a:rPr>
              <a:t>E.g. changing traffic speed, lighting, or scene complexity.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b="1" i="1" kern="100">
                <a:solidFill>
                  <a:srgbClr val="2F5496"/>
                </a:solidFill>
                <a:latin typeface="Times New Roman"/>
                <a:ea typeface="Times New Roman" panose="02020603050405020304" pitchFamily="18" charset="0"/>
                <a:cs typeface="Times New Roman"/>
              </a:rPr>
              <a:t>Chameleon’s Solution</a:t>
            </a:r>
            <a:endParaRPr lang="en-US" altLang="en-US" sz="2000">
              <a:latin typeface="Times New Roman"/>
              <a:cs typeface="Times New Roman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>
                <a:latin typeface="Times New Roman"/>
                <a:cs typeface="Times New Roman"/>
              </a:rPr>
              <a:t>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Strength 1 </a:t>
            </a:r>
            <a:r>
              <a:rPr lang="en-GB" sz="2000">
                <a:latin typeface="Times New Roman"/>
                <a:cs typeface="Times New Roman"/>
              </a:rPr>
              <a:t>—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 </a:t>
            </a:r>
            <a:r>
              <a:rPr lang="en-GB" sz="2000">
                <a:latin typeface="Times New Roman"/>
                <a:cs typeface="Times New Roman"/>
              </a:rPr>
              <a:t>Temporal Correlation Optimisation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 Strength 2 </a:t>
            </a:r>
            <a:r>
              <a:rPr lang="en-GB" sz="2000">
                <a:latin typeface="Times New Roman"/>
                <a:cs typeface="Times New Roman"/>
              </a:rPr>
              <a:t>—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 </a:t>
            </a:r>
            <a:r>
              <a:rPr lang="en-US" altLang="en-US" sz="2000">
                <a:latin typeface="Times New Roman"/>
                <a:cs typeface="Times New Roman"/>
              </a:rPr>
              <a:t>Spatial </a:t>
            </a:r>
            <a:r>
              <a:rPr lang="en-GB" sz="2000">
                <a:latin typeface="Times New Roman"/>
                <a:cs typeface="Times New Roman"/>
              </a:rPr>
              <a:t>Correlation Optimisation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 Strength 3 </a:t>
            </a:r>
            <a:r>
              <a:rPr lang="en-GB" sz="2000">
                <a:latin typeface="Times New Roman"/>
                <a:cs typeface="Times New Roman"/>
              </a:rPr>
              <a:t>—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 </a:t>
            </a:r>
            <a:r>
              <a:rPr lang="en-GB" sz="2000">
                <a:latin typeface="Times New Roman"/>
                <a:cs typeface="Times New Roman"/>
              </a:rPr>
              <a:t>Smart Profiling Using Knob Independence</a:t>
            </a: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661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B9BE-7F2B-4EC1-C252-8F4A64D07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FF49-4783-07C3-5FE7-6A0AA815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Segoe UI"/>
                <a:cs typeface="Segoe UI"/>
              </a:rPr>
              <a:t>Strengths of Chameleon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2BEF3-3962-0017-1A94-F59FA6A5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2D7FF-A617-901F-3EFA-9DC8B3D9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4B415-774A-962B-186E-C28D3327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6</a:t>
            </a:fld>
            <a:endParaRPr lang="en-GB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333D787-0EA6-9F65-6360-9DD5E0A076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 i="1" kern="100" dirty="0">
                <a:solidFill>
                  <a:srgbClr val="2F5496"/>
                </a:solidFill>
                <a:latin typeface="Times New Roman"/>
                <a:cs typeface="Times New Roman"/>
              </a:rPr>
              <a:t>5 Core Strengths to Chameleon:</a:t>
            </a:r>
            <a:endParaRPr lang="en-GB" b="1" i="1" u="none" strike="noStrike" kern="100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b="1" i="1" kern="100" dirty="0">
              <a:solidFill>
                <a:srgbClr val="2F5496"/>
              </a:solidFill>
              <a:latin typeface="Times New Roman"/>
              <a:cs typeface="Times New Roman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Times New Roman"/>
                <a:cs typeface="Times New Roman"/>
              </a:rPr>
              <a:t> </a:t>
            </a:r>
            <a:r>
              <a:rPr lang="en-US" b="1" dirty="0">
                <a:latin typeface="Times New Roman"/>
                <a:cs typeface="Times New Roman"/>
              </a:rPr>
              <a:t>Strength 1 </a:t>
            </a:r>
            <a:r>
              <a:rPr lang="en-GB" b="1" dirty="0">
                <a:latin typeface="Times New Roman"/>
                <a:cs typeface="Times New Roman"/>
              </a:rPr>
              <a:t>—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GB" b="1" dirty="0">
                <a:latin typeface="Times New Roman"/>
                <a:cs typeface="Times New Roman"/>
              </a:rPr>
              <a:t>Temporal Correlation Optimisation</a:t>
            </a:r>
            <a:endParaRPr lang="en-US" b="1" dirty="0"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2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Spatial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Correlation Optimisation</a:t>
            </a:r>
            <a:endParaRPr lang="en-US" dirty="0">
              <a:solidFill>
                <a:schemeClr val="bg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3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Smart Profiling Using Knob Independence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4 — Generalisable Solution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v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5 — Enables Dynamic Profiling</a:t>
            </a:r>
          </a:p>
        </p:txBody>
      </p:sp>
    </p:spTree>
    <p:extLst>
      <p:ext uri="{BB962C8B-B14F-4D97-AF65-F5344CB8AC3E}">
        <p14:creationId xmlns:p14="http://schemas.microsoft.com/office/powerpoint/2010/main" val="174443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BD86-1B05-8347-9123-0ED87A843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A549-EE9D-6295-1EE7-FC6C19735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906171" cy="1325563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/>
                <a:cs typeface="Segoe UI"/>
              </a:rPr>
              <a:t>Strength 1 — Temporal Correlation Optimisation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0895-E884-C4F5-3FD0-50BE70E70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5105922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In real-world video streams, scene characteristics (object density, speed, lighting) often remain stable for several seconds or minutes.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Chameleon exploits this by reusing previously selected top-k configurations for a camera, rather than frequently re-profiling.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</a:p>
          <a:p>
            <a:pPr marL="800100" lvl="1" indent="-342900">
              <a:lnSpc>
                <a:spcPct val="100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Temporal reuse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Good configurations </a:t>
            </a: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persist over time 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(seconds to minutes) → reuse top-k.</a:t>
            </a:r>
          </a:p>
          <a:p>
            <a:pPr marL="800100" lvl="1" indent="-342900">
              <a:lnSpc>
                <a:spcPct val="100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Avoids full re-profiling unless content characteristics change </a:t>
            </a: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significantly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 marL="800100" lvl="1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lang="en-GB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profiling </a:t>
            </a:r>
            <a:r>
              <a:rPr lang="en-GB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GB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computational cost</a:t>
            </a:r>
            <a:r>
              <a:rPr lang="en-GB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GB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 responsiveness</a:t>
            </a:r>
            <a:r>
              <a:rPr lang="en-GB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without sacrificing accuracy.</a:t>
            </a:r>
            <a:endParaRPr lang="en-GB" sz="1800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~50% reduction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profiling cost.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lang="en-GB" sz="1800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8D47F-2CFF-B65B-82A0-27AEF065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062E8-B003-7643-74E1-A137F2C8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54B2F-984E-D212-576A-13557F2EF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26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C48CD-B463-CB83-18B2-892F1704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ABEB-11B8-F11E-29CB-4C3087DC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Segoe UI"/>
                <a:cs typeface="Segoe UI"/>
              </a:rPr>
              <a:t>Strengths of Chameleon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2920-EF75-2DDA-3FAE-EEA00371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65114-E3AA-F9CC-946F-B76A24E8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28F0-ABAD-A769-5846-BFEE3067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8</a:t>
            </a:fld>
            <a:endParaRPr lang="en-GB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1AD6042-1011-C7A3-7D1C-DC3CE2F056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 i="1" kern="100" dirty="0">
                <a:solidFill>
                  <a:srgbClr val="2F5496"/>
                </a:solidFill>
                <a:latin typeface="Times New Roman"/>
                <a:cs typeface="Times New Roman"/>
              </a:rPr>
              <a:t>5 Core Strengths to Chameleon:</a:t>
            </a:r>
            <a:endParaRPr lang="en-GB" b="1" i="1" u="none" strike="noStrike" kern="100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b="1" i="1" kern="100" dirty="0">
              <a:solidFill>
                <a:srgbClr val="2F5496"/>
              </a:solidFill>
              <a:latin typeface="Times New Roman"/>
              <a:cs typeface="Times New Roman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Strength 1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Temporal Correlation Optimisation</a:t>
            </a:r>
            <a:endParaRPr lang="en-US" dirty="0">
              <a:solidFill>
                <a:schemeClr val="bg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/>
                <a:cs typeface="Times New Roman"/>
              </a:rPr>
              <a:t> Strength 2 </a:t>
            </a:r>
            <a:r>
              <a:rPr lang="en-GB" b="1" dirty="0">
                <a:latin typeface="Times New Roman"/>
                <a:cs typeface="Times New Roman"/>
              </a:rPr>
              <a:t>—</a:t>
            </a:r>
            <a:r>
              <a:rPr lang="en-US" b="1" dirty="0">
                <a:latin typeface="Times New Roman"/>
                <a:cs typeface="Times New Roman"/>
              </a:rPr>
              <a:t> Spatial </a:t>
            </a:r>
            <a:r>
              <a:rPr lang="en-GB" b="1" dirty="0">
                <a:latin typeface="Times New Roman"/>
                <a:cs typeface="Times New Roman"/>
              </a:rPr>
              <a:t>Correlation Optimisation</a:t>
            </a:r>
            <a:endParaRPr lang="en-US" b="1" dirty="0"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3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Smart Profiling Using Knob Independence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v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4 — Generalisable Solution 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v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Strength 5 — Enables Dynamic Profiling</a:t>
            </a:r>
          </a:p>
        </p:txBody>
      </p:sp>
    </p:spTree>
    <p:extLst>
      <p:ext uri="{BB962C8B-B14F-4D97-AF65-F5344CB8AC3E}">
        <p14:creationId xmlns:p14="http://schemas.microsoft.com/office/powerpoint/2010/main" val="4081705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3A3C-7802-AEAE-D1F9-601A591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C00D-3205-B66F-7610-1F0936ED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906171" cy="1325563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/>
                <a:cs typeface="Segoe UI"/>
              </a:rPr>
              <a:t>Strength 2 — Spatial Correlation Optimisation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EC1C-5EC5-F34D-9AC1-65A7927F6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030787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9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Cameras deployed in similar environments (e.g. nearby traffic intersections) often observe similar scenes and object  behaviours.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Chameleon groups these cameras and uses a leader-follower strategy — one camera profiles new configurations, and others reuse its results, greatly reducing redundant profiling work.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</a:p>
          <a:p>
            <a:pPr marL="800100" lvl="1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Spatial reuse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Similar cameras (e.g., nearby traffic cams) often share best configurations.</a:t>
            </a:r>
          </a:p>
          <a:p>
            <a:pPr marL="800100" lvl="1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Camera groupings created based on </a:t>
            </a: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observed video characteristics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Leader-follower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profiling strategy spreads profiling cost across cameras.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 marL="800100" lvl="1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~</a:t>
            </a: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30-60%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reduction in system-wide profiling cost (on-top of temporal correlation).</a:t>
            </a:r>
          </a:p>
          <a:p>
            <a:pPr marL="800100" lvl="1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Essential for scaling to smart cities / large camera deployments.</a:t>
            </a:r>
          </a:p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8544A-1C02-07CE-D730-8D48E7A5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6C008-CC3C-A166-CFF9-54702845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6745F-CF2E-BE3D-5C0A-602F4E44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78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88D51-10DC-CFF6-74E8-8A8BF389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6BDF-8E8B-232B-9FA1-5DE94CB6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906171" cy="1325563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  <a:t>Strengths 1 &amp; 2 — Related Works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FEE64-299D-92E8-E260-60742075C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83314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2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STC-Net: Spatial-Temporal Correlation Network for Video Anomaly Detection </a:t>
            </a:r>
            <a:r>
              <a:rPr lang="en-GB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9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STC-Net introduces a spatiotemporal long short-term memory (ST-LSTM) network that captures both 	spatial appearances and temporal variations within a unified memory cell.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This design enables the model to learn the evolution of normal patterns more effectively.​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Evaluation Results</a:t>
            </a:r>
            <a:b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STC-Net showed state-of-the-art performance on three standard video anomaly detection datasets:</a:t>
            </a:r>
          </a:p>
          <a:p>
            <a:pPr lvl="2">
              <a:lnSpc>
                <a:spcPct val="110000"/>
              </a:lnSpc>
              <a:spcAft>
                <a:spcPts val="5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UCSD Ped2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96.7% AUC</a:t>
            </a:r>
          </a:p>
          <a:p>
            <a:pPr lvl="2">
              <a:lnSpc>
                <a:spcPct val="110000"/>
              </a:lnSpc>
              <a:spcAft>
                <a:spcPts val="5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CUHK Avenue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87.8% AUC</a:t>
            </a:r>
          </a:p>
          <a:p>
            <a:pPr lvl="2">
              <a:lnSpc>
                <a:spcPct val="110000"/>
              </a:lnSpc>
              <a:spcAft>
                <a:spcPts val="5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GB" sz="1800" b="1" kern="10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ShanghaiTech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73.1% AUC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Application</a:t>
            </a:r>
            <a:b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Intelligent surveillance systems where accurate anomaly detection is critical.​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01962-DDCC-10F3-0AF6-254ACA69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B1DE5-D22F-D7FF-D58B-E859A6E01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6D1F7-BFE2-7420-AC2F-9000F6BE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22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9577-9E78-D0CC-D0BB-C912ADBF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8211-980A-2706-12F8-87625A197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906171" cy="1325563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  <a:t>Strengths 1 &amp; 2 — Related Works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8F04-3476-C933-3D67-B891BCA75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0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CTL: Spatial-Temporal Correlation and Topology Learning for Person Re-Identification </a:t>
            </a:r>
            <a:r>
              <a:rPr lang="en-GB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CTL introduces a framework that constructs multi-scale graphs to model spatial-temporal correlations and 	human body topology.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Enables robust feature representation for person re-identification across non-overlapping camera 	views.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Evaluation Results</a:t>
            </a:r>
            <a:b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Achieved state-of-the-art performance on two video benchmarks:</a:t>
            </a:r>
          </a:p>
          <a:p>
            <a:pPr lvl="2">
              <a:lnSpc>
                <a:spcPct val="107000"/>
              </a:lnSpc>
              <a:spcAft>
                <a:spcPts val="5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GB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iLIDS</a:t>
            </a:r>
            <a:r>
              <a:rPr lang="en-GB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-VID</a:t>
            </a:r>
            <a:r>
              <a:rPr lang="en-GB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CTL achieved a rank-1 accuracy of 81.6%, outperforming previous methods on this dataset.​ </a:t>
            </a:r>
            <a:endParaRPr lang="en-GB" sz="1800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5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GB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MARS</a:t>
            </a:r>
            <a:r>
              <a:rPr lang="en-GB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On this larger and more challenging dataset, CTL achieved a rank-1 accuracy of 84.6%.</a:t>
            </a:r>
            <a:endParaRPr lang="en-GB" sz="1800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Application</a:t>
            </a:r>
            <a:b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Intelligent surveillance systems where accurate anomaly detection is critical.​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A2185-EA8C-EB22-B5CC-A3E1168D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6DB0F-1C89-B620-8D21-E06CBEC6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BC9C7-6E86-0F6D-055F-1C03A795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1508-3933-F02D-D8DF-4989E9DCF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4C3A-CF67-CCF3-9663-4173D68B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906171" cy="1325563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  <a:t>Strengths 1 &amp; 2 — Related Works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45101-1723-0B21-781C-00ADA1831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200" b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Focus: Querying Large Video Datasets with Low Latency and Low Cost </a:t>
            </a:r>
            <a:r>
              <a:rPr lang="en-GB" sz="22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[3]</a:t>
            </a:r>
            <a:r>
              <a:rPr lang="en-GB" sz="2200" b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GB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educes the cost of querying large video datasets by combining lightweight (cheap) specialized models with indexing techniques. Avoids scanning entire videos by sharing object detection results across queries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.​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Evaluation Results</a:t>
            </a:r>
            <a:b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Achieved up to 98% reduction in query latency and substantial cost savings compared to baseline methods, 	while maintaining high accuracy.</a:t>
            </a:r>
            <a:endParaRPr lang="en-GB" sz="1800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Application</a:t>
            </a:r>
            <a:b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Suitable for large-scale video analytics platforms, such as city-scale traffic monitoring systems or video 	archives requiring fast query response.</a:t>
            </a:r>
            <a:endParaRPr lang="en-GB" sz="1800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294F3-A6DD-BCAE-7636-C29E4E67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636BF-A37E-1F45-EDE5-D69F0561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11639-3DAB-8B5E-78B9-F4C7F25F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782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069CB-37C1-23BE-02BA-EE54F1573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D6FF-D058-2449-3998-92B09A80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Segoe UI"/>
                <a:cs typeface="Segoe UI"/>
              </a:rPr>
              <a:t>Strengths of Chameleon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56A8C-C878-740D-C514-160732CB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B86E5-B13F-772E-D871-8ECD65CC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BB5A-CF22-B85B-C9AC-C000A760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13</a:t>
            </a:fld>
            <a:endParaRPr lang="en-GB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637325B-A2DF-2E44-E18F-4D984E7099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 i="1" kern="100" dirty="0">
                <a:solidFill>
                  <a:srgbClr val="2F5496"/>
                </a:solidFill>
                <a:latin typeface="Times New Roman"/>
                <a:cs typeface="Times New Roman"/>
              </a:rPr>
              <a:t>5 Core Strengths to Chameleon:</a:t>
            </a:r>
            <a:endParaRPr lang="en-GB" b="1" i="1" u="none" strike="noStrike" kern="100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b="1" i="1" kern="100" dirty="0">
              <a:solidFill>
                <a:srgbClr val="2F5496"/>
              </a:solidFill>
              <a:latin typeface="Times New Roman"/>
              <a:cs typeface="Times New Roman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Strength 1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Temporal Correlation Optimisation</a:t>
            </a:r>
            <a:endParaRPr lang="en-US" dirty="0">
              <a:solidFill>
                <a:schemeClr val="bg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2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Spatial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Correlation Optimisation</a:t>
            </a:r>
            <a:endParaRPr lang="en-US" dirty="0">
              <a:solidFill>
                <a:schemeClr val="bg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/>
                <a:cs typeface="Times New Roman"/>
              </a:rPr>
              <a:t> Strength 3 </a:t>
            </a:r>
            <a:r>
              <a:rPr lang="en-GB" b="1" dirty="0">
                <a:latin typeface="Times New Roman"/>
                <a:cs typeface="Times New Roman"/>
              </a:rPr>
              <a:t>—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GB" b="1" dirty="0">
                <a:latin typeface="Times New Roman"/>
                <a:cs typeface="Times New Roman"/>
              </a:rPr>
              <a:t>Smart Profiling Using Knob Independence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v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Strength 4 — Generalisable Solution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v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5 — Enables Dynamic Profiling</a:t>
            </a:r>
          </a:p>
        </p:txBody>
      </p:sp>
    </p:spTree>
    <p:extLst>
      <p:ext uri="{BB962C8B-B14F-4D97-AF65-F5344CB8AC3E}">
        <p14:creationId xmlns:p14="http://schemas.microsoft.com/office/powerpoint/2010/main" val="872127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664E-166D-30F8-09F6-C1ADE916C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F2A0-2A80-D495-3FAF-68756B85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906171" cy="1325563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  <a:t>Strength 3 — Smart Profiling Using Knob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BC40-E93A-1514-EF22-F48AC8C4F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Explanation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	Introduces configuration profiling by treating each system parameter ("knob") independently.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Assumption of independence allows for a linear reduction in the profiling space, significantly decreasing the computational overhead required to identify optimal configurations.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Techniques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Observed that </a:t>
            </a:r>
            <a:r>
              <a:rPr lang="en-GB" sz="1800" b="1" kern="100">
                <a:effectLst/>
                <a:latin typeface="Times New Roman"/>
                <a:ea typeface="Calibri"/>
                <a:cs typeface="Times New Roman"/>
              </a:rPr>
              <a:t>configuration knobs act mostly independently</a:t>
            </a: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 with monotonic cost behaviour.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Uses </a:t>
            </a:r>
            <a:r>
              <a:rPr lang="en-GB" sz="1800" b="1" kern="100">
                <a:effectLst/>
                <a:latin typeface="Times New Roman"/>
                <a:ea typeface="Calibri"/>
                <a:cs typeface="Times New Roman"/>
              </a:rPr>
              <a:t>greedy hill-climbing</a:t>
            </a: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 to reduce search from an exhaustive search of </a:t>
            </a:r>
            <a:r>
              <a:rPr lang="en-GB" sz="1800" b="1" kern="100">
                <a:effectLst/>
                <a:latin typeface="Times New Roman"/>
                <a:ea typeface="Calibri"/>
                <a:cs typeface="Times New Roman"/>
              </a:rPr>
              <a:t>O(n</a:t>
            </a:r>
            <a:r>
              <a:rPr lang="en-GB" sz="1800" b="1" kern="100" baseline="30000">
                <a:effectLst/>
                <a:latin typeface="Times New Roman"/>
                <a:ea typeface="Calibri"/>
                <a:cs typeface="Times New Roman"/>
              </a:rPr>
              <a:t>m</a:t>
            </a:r>
            <a:r>
              <a:rPr lang="en-GB" sz="1800" b="1" kern="100">
                <a:effectLst/>
                <a:latin typeface="Times New Roman"/>
                <a:ea typeface="Calibri"/>
                <a:cs typeface="Times New Roman"/>
              </a:rPr>
              <a:t>) to O(nm)</a:t>
            </a: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.</a:t>
            </a:r>
          </a:p>
          <a:p>
            <a:pPr lvl="2">
              <a:lnSpc>
                <a:spcPct val="1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GB" sz="1800" b="1" i="1" kern="100">
                <a:effectLst/>
                <a:latin typeface="Times New Roman"/>
                <a:ea typeface="Calibri"/>
                <a:cs typeface="Times New Roman"/>
              </a:rPr>
              <a:t>m </a:t>
            </a:r>
            <a:r>
              <a:rPr lang="en-GB" sz="1800" b="1" kern="100">
                <a:effectLst/>
                <a:latin typeface="Times New Roman"/>
                <a:ea typeface="Calibri"/>
                <a:cs typeface="Times New Roman"/>
              </a:rPr>
              <a:t>knobs</a:t>
            </a: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, </a:t>
            </a:r>
            <a:r>
              <a:rPr lang="en-GB" sz="1800" b="1" i="1" kern="100">
                <a:effectLst/>
                <a:latin typeface="Times New Roman"/>
                <a:ea typeface="Calibri"/>
                <a:cs typeface="Times New Roman"/>
              </a:rPr>
              <a:t>n</a:t>
            </a:r>
            <a:r>
              <a:rPr lang="en-GB" sz="1800" b="1" kern="100">
                <a:effectLst/>
                <a:latin typeface="Times New Roman"/>
                <a:ea typeface="Calibri"/>
                <a:cs typeface="Times New Roman"/>
              </a:rPr>
              <a:t> values </a:t>
            </a: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for each knob.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Impact</a:t>
            </a:r>
            <a:endParaRPr lang="en-GB" sz="1100" b="1" i="1" kern="100">
              <a:solidFill>
                <a:srgbClr val="2F5496"/>
              </a:solidFill>
              <a:effectLst/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lvl="1">
              <a:lnSpc>
                <a:spcPct val="100000"/>
              </a:lnSpc>
              <a:spcAft>
                <a:spcPts val="800"/>
              </a:spcAft>
              <a:buSzPts val="1000"/>
              <a:buFont typeface="Wingdings" panose="05050102010706020507" pitchFamily="18" charset="2"/>
              <a:buChar char="v"/>
              <a:tabLst>
                <a:tab pos="457200" algn="l"/>
              </a:tabLst>
            </a:pP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Achieves near-optimal configs at </a:t>
            </a: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fraction of the cost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buSzPts val="1000"/>
              <a:buFont typeface="Wingdings" panose="05050102010706020507" pitchFamily="18" charset="2"/>
              <a:buChar char="v"/>
              <a:tabLst>
                <a:tab pos="457200" algn="l"/>
              </a:tabLst>
            </a:pP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Makes Chameleon feasible for </a:t>
            </a: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profiling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resource-constrained systems.</a:t>
            </a:r>
          </a:p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0CA66-F5B1-B1DE-2D01-53E56718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5685E-13C6-8A9C-86FB-64A2EADD8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1C008-94A8-913C-3B1A-A39A2D6E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139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4463-7789-F2A7-2737-3CF558034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906171" cy="1325563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  <a:t>Strength 3 – Related Work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941E-6F23-329F-A552-3EAE77CCB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66582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2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NoScope: Optimizing Neural Network Queries over Video at Scale </a:t>
            </a:r>
            <a:r>
              <a:rPr lang="en-GB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Introduces a system that accelerates neural network-based video queries by automatically generating 	specialized models tailored to specific video streams.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Uses a cascade of models, including difference detectors and specialized neural networks, to </a:t>
            </a:r>
            <a:r>
              <a:rPr lang="en-GB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filter out 	frames unlikely to contain objects of interest</a:t>
            </a: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thereby reducing computational load.​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Evaluation Results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Demonstrated up to 1000x speedup in processing video queries compared to baseline methods, with 	minimal loss in accuracy.​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Application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Real-time video analytics, such as surveillance systems, where rapid processing of video streams is critical.​</a:t>
            </a:r>
          </a:p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7969D-65ED-6548-5D7F-2C6EE020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FE624-960F-A1A3-DE5B-63FF968B2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440C4-2B72-4AFD-0CED-616E2030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37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1D8F-0308-B9E7-20C3-5CB63F51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4971-6C36-6019-4496-8F0BBD95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906171" cy="1325563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  <a:t>Strength 3 – Related Work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D4223-4266-7BAB-0D34-BD517D6FB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6658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200" b="1">
                <a:effectLst/>
                <a:latin typeface="Times New Roman"/>
                <a:ea typeface="Calibri"/>
                <a:cs typeface="Times New Roman"/>
              </a:rPr>
              <a:t>Focus: Querying Large Video Datasets with Low Latency and Low Cost </a:t>
            </a:r>
            <a:r>
              <a:rPr lang="en-GB" sz="2200">
                <a:effectLst/>
                <a:latin typeface="Times New Roman"/>
                <a:ea typeface="Calibri"/>
                <a:cs typeface="Times New Roman"/>
              </a:rPr>
              <a:t>[3]</a:t>
            </a:r>
            <a:br>
              <a:rPr lang="en-GB" sz="2200" b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GB" sz="2200" b="1">
                <a:effectLst/>
                <a:latin typeface="Times New Roman"/>
                <a:ea typeface="Calibri"/>
                <a:cs typeface="Times New Roman"/>
              </a:rPr>
              <a:t>[Same Related Work as Strength 1 &amp; 2]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200" b="1" i="1" kern="100">
                <a:solidFill>
                  <a:srgbClr val="2F5496"/>
                </a:solidFill>
                <a:latin typeface="Times New Roman"/>
                <a:ea typeface="Times New Roman" panose="02020603050405020304" pitchFamily="18" charset="0"/>
                <a:cs typeface="Times New Roman"/>
              </a:rPr>
              <a:t>Summary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R</a:t>
            </a:r>
            <a:r>
              <a:rPr lang="en-GB" sz="1800">
                <a:effectLst/>
                <a:latin typeface="Times New Roman"/>
                <a:ea typeface="Calibri"/>
                <a:cs typeface="Times New Roman"/>
              </a:rPr>
              <a:t>educes the cost of querying large video datasets by combining lightweight (cheap) specialized models with indexing techniques. Avoids scanning entire videos by sharing object detection results across queries</a:t>
            </a:r>
            <a:r>
              <a:rPr lang="en-GB" sz="1800" kern="100">
                <a:effectLst/>
                <a:latin typeface="Times New Roman"/>
                <a:ea typeface="Calibri"/>
                <a:cs typeface="Times New Roman"/>
              </a:rPr>
              <a:t>.​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/>
                <a:ea typeface="Times New Roman" panose="02020603050405020304" pitchFamily="18" charset="0"/>
                <a:cs typeface="Times New Roman"/>
              </a:rPr>
              <a:t>Evaluation Results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>
                <a:latin typeface="Times New Roman"/>
                <a:ea typeface="Calibri"/>
                <a:cs typeface="Times New Roman"/>
              </a:rPr>
              <a:t> </a:t>
            </a:r>
            <a:r>
              <a:rPr lang="en-GB" sz="1800">
                <a:effectLst/>
                <a:latin typeface="Times New Roman"/>
                <a:ea typeface="Calibri"/>
                <a:cs typeface="Times New Roman"/>
              </a:rPr>
              <a:t>Achieved up to 98% reduction in query latency and substantial cost savings compared to baseline methods,</a:t>
            </a:r>
            <a:r>
              <a:rPr lang="en-GB" sz="1800">
                <a:latin typeface="Times New Roman"/>
                <a:ea typeface="Calibri"/>
                <a:cs typeface="Times New Roman"/>
              </a:rPr>
              <a:t>  </a:t>
            </a:r>
            <a:r>
              <a:rPr lang="en-GB" sz="1800">
                <a:effectLst/>
                <a:latin typeface="Times New Roman"/>
                <a:ea typeface="Calibri"/>
                <a:cs typeface="Times New Roman"/>
              </a:rPr>
              <a:t>while maintaining high accuracy.</a:t>
            </a:r>
            <a:endParaRPr lang="en-GB" sz="1800" kern="100">
              <a:effectLst/>
              <a:latin typeface="Times New Roman"/>
              <a:ea typeface="Calibri"/>
              <a:cs typeface="Times New Roman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2200" b="1" i="1" kern="100">
                <a:solidFill>
                  <a:srgbClr val="2F5496"/>
                </a:solidFill>
                <a:latin typeface="Times New Roman"/>
                <a:ea typeface="Times New Roman" panose="02020603050405020304" pitchFamily="18" charset="0"/>
                <a:cs typeface="Times New Roman"/>
              </a:rPr>
              <a:t>Real-World Application</a:t>
            </a:r>
            <a:br>
              <a:rPr lang="en-GB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>
                <a:latin typeface="Times New Roman"/>
                <a:ea typeface="Calibri"/>
                <a:cs typeface="Times New Roman"/>
              </a:rPr>
              <a:t> </a:t>
            </a:r>
            <a:r>
              <a:rPr lang="en-GB" sz="1800">
                <a:effectLst/>
                <a:latin typeface="Times New Roman"/>
                <a:ea typeface="Calibri"/>
                <a:cs typeface="Times New Roman"/>
              </a:rPr>
              <a:t>Suitable for large-scale video analytics platforms, such as city-scale traffic monitoring systems or </a:t>
            </a:r>
            <a:r>
              <a:rPr lang="en-GB" sz="1800">
                <a:latin typeface="Times New Roman"/>
                <a:ea typeface="Calibri"/>
                <a:cs typeface="Times New Roman"/>
              </a:rPr>
              <a:t>video     archives</a:t>
            </a:r>
            <a:r>
              <a:rPr lang="en-GB" sz="1800">
                <a:effectLst/>
                <a:latin typeface="Times New Roman"/>
                <a:ea typeface="Calibri"/>
                <a:cs typeface="Times New Roman"/>
              </a:rPr>
              <a:t> requiring fast query response.</a:t>
            </a:r>
            <a:endParaRPr lang="en-GB" sz="1800" kern="100">
              <a:effectLst/>
              <a:latin typeface="Times New Roman"/>
              <a:ea typeface="Calibri"/>
              <a:cs typeface="Times New Roman"/>
            </a:endParaRPr>
          </a:p>
          <a:p>
            <a:endParaRPr lang="en-GB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17DF1-2231-CCE7-52E2-1C06989C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33E4B-E93B-DB0D-1A0C-8A737D0A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27A88-C633-E1B9-22EE-6F7DE9BF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531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8DD3-60BB-7E5E-61DD-9794D2C4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1EED-D65D-C3DE-7A14-F129472D4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70"/>
            <a:ext cx="9906171" cy="758445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  <a:t>Evaluating Strength 1, 2 &amp; 3</a:t>
            </a:r>
            <a:b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Profiling Costs</a:t>
            </a:r>
            <a:endParaRPr lang="en-GB" sz="3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02B273A-EB00-74FF-2757-E2F80C9715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2913" y="4934861"/>
          <a:ext cx="9906172" cy="11922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53086">
                  <a:extLst>
                    <a:ext uri="{9D8B030D-6E8A-4147-A177-3AD203B41FA5}">
                      <a16:colId xmlns:a16="http://schemas.microsoft.com/office/drawing/2014/main" val="2175294817"/>
                    </a:ext>
                  </a:extLst>
                </a:gridCol>
                <a:gridCol w="4953086">
                  <a:extLst>
                    <a:ext uri="{9D8B030D-6E8A-4147-A177-3AD203B41FA5}">
                      <a16:colId xmlns:a16="http://schemas.microsoft.com/office/drawing/2014/main" val="3351628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Technique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Profiling Cost Reduction (Approximate)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49330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Temporal Reuse Only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~50% Reduction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5661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Temporal + Cross-Camera Sharing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~60–70% Reduction (depending on scenario)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63950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With Knob Independence Added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Up to ~90% Total Reduction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036217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52348-5A5E-5E1D-8970-848E1106C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7B9FE-5094-FB0B-40B9-FD3F0773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E878C-6D26-D6F8-368B-95938630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17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4A4C77-3C5E-B87B-2494-0BA1ED324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761" y="1347528"/>
            <a:ext cx="6334478" cy="348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7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5246-65DF-E8AB-3C2A-0BAB0655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911A-C86A-29B8-EED7-859DE330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70"/>
            <a:ext cx="9906171" cy="758445"/>
          </a:xfrm>
        </p:spPr>
        <p:txBody>
          <a:bodyPr>
            <a:normAutofit/>
          </a:bodyPr>
          <a:lstStyle/>
          <a:p>
            <a: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  <a:t>Evaluating Strength 1, 2 &amp; 3</a:t>
            </a:r>
            <a:br>
              <a:rPr lang="en-GB" sz="30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Accuracy</a:t>
            </a:r>
            <a:endParaRPr lang="en-GB" sz="3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FFBF1-A547-F005-52FD-AE54518E2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51D16-597B-B7BE-516C-905B9C58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42821-0646-ECBD-62BF-57822850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18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9C707D-DE6A-E2AD-CD0E-51FE2485E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889"/>
            <a:ext cx="10515600" cy="488207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Chameleon achieves accuracy within </a:t>
            </a: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~1-2% 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of exhaustive search, static configuration methods.</a:t>
            </a:r>
          </a:p>
          <a:p>
            <a:pPr marL="0" indent="0">
              <a:buNone/>
            </a:pPr>
            <a:endParaRPr 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F1 Scores:</a:t>
            </a:r>
            <a:endParaRPr 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Chameleon: 		</a:t>
            </a: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~ 0.78 – 0.81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Exhaustive Search: 	</a:t>
            </a: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~ 0.80 – 0.82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 F1 Score is a metric used to measure the accuracy of a system (harmonic mean).</a:t>
            </a:r>
          </a:p>
          <a:p>
            <a:pPr>
              <a:buNone/>
            </a:pP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F1 Score = 2 × (Precision × Recall) / (Precision + Recall)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→ How many of the detected objects were correct?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→ How many of the actual objects did you detect?</a:t>
            </a:r>
          </a:p>
          <a:p>
            <a:pPr marL="0" indent="0">
              <a:buNone/>
            </a:pPr>
            <a:endParaRPr lang="en-GB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757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33F0-2DA7-880D-08C5-0FC883E0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F699-1534-A116-7046-E9AC9993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Segoe UI"/>
                <a:cs typeface="Segoe UI"/>
              </a:rPr>
              <a:t>Strengths of Chameleon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97CD4-EF6B-C163-FBDB-C5522811B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050AE-18E9-DC90-59E6-8557BD6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8213E-735F-99C6-5BC4-56EB7E57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19</a:t>
            </a:fld>
            <a:endParaRPr lang="en-GB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1E672BA-3443-6201-EA28-AC09D787D6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 i="1" kern="100" dirty="0">
                <a:solidFill>
                  <a:srgbClr val="2F5496"/>
                </a:solidFill>
                <a:latin typeface="Times New Roman"/>
                <a:cs typeface="Times New Roman"/>
              </a:rPr>
              <a:t>5 Core Strengths to Chameleon:</a:t>
            </a:r>
            <a:endParaRPr lang="en-GB" b="1" i="1" u="none" strike="noStrike" kern="100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b="1" i="1" kern="100" dirty="0">
              <a:solidFill>
                <a:srgbClr val="2F5496"/>
              </a:solidFill>
              <a:latin typeface="Times New Roman"/>
              <a:cs typeface="Times New Roman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Strength 1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Temporal Correlation Optimisation</a:t>
            </a:r>
            <a:endParaRPr lang="en-US" dirty="0">
              <a:solidFill>
                <a:schemeClr val="bg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2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Spatial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Correlation Optimisation</a:t>
            </a:r>
            <a:endParaRPr lang="en-US" dirty="0">
              <a:solidFill>
                <a:schemeClr val="bg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DDDDDD"/>
                </a:solidFill>
                <a:latin typeface="Times New Roman"/>
                <a:cs typeface="Times New Roman"/>
              </a:rPr>
              <a:t>Strength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3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Smart Profiling Using Knob Independence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GB" b="1" dirty="0">
                <a:latin typeface="Times New Roman"/>
                <a:cs typeface="Times New Roman"/>
              </a:rPr>
              <a:t> Strength 4 — Generalisable Solution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v"/>
            </a:pPr>
            <a:r>
              <a:rPr lang="en-GB" dirty="0">
                <a:solidFill>
                  <a:srgbClr val="DDDDDD"/>
                </a:solidFill>
                <a:latin typeface="Times New Roman"/>
                <a:cs typeface="Times New Roman"/>
              </a:rPr>
              <a:t> Strength 5 — Enables Dynamic Profiling</a:t>
            </a:r>
          </a:p>
        </p:txBody>
      </p:sp>
    </p:spTree>
    <p:extLst>
      <p:ext uri="{BB962C8B-B14F-4D97-AF65-F5344CB8AC3E}">
        <p14:creationId xmlns:p14="http://schemas.microsoft.com/office/powerpoint/2010/main" val="1864966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8117-390F-2254-96BA-4B9709D76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36" y="0"/>
            <a:ext cx="9906171" cy="1325563"/>
          </a:xfrm>
        </p:spPr>
        <p:txBody>
          <a:bodyPr/>
          <a:lstStyle/>
          <a:p>
            <a:r>
              <a:rPr lang="en-GB" dirty="0"/>
              <a:t>Video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88D21-CE65-AF22-D6B6-F809698A5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36" y="1253331"/>
            <a:ext cx="10919910" cy="54271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Using detection or tracking models on live streams is astronomically more expensive than the hardware or model training costs</a:t>
            </a:r>
          </a:p>
          <a:p>
            <a:pPr lvl="1"/>
            <a:r>
              <a:rPr lang="en-GB" dirty="0"/>
              <a:t>A video sensor costs £6 on Alibaba (Alibaba, 2025)</a:t>
            </a:r>
          </a:p>
          <a:p>
            <a:pPr lvl="1"/>
            <a:r>
              <a:rPr lang="en-GB" dirty="0"/>
              <a:t>Applying a trained model to video data requires a £4600 GPU or hundreds of pounds in cloud costs a year at the minimum (Kang, et. al., 2017)</a:t>
            </a:r>
          </a:p>
          <a:p>
            <a:r>
              <a:rPr lang="en-GB" dirty="0"/>
              <a:t>How can we use Chameleon to reduce these processing costs?</a:t>
            </a:r>
          </a:p>
        </p:txBody>
      </p:sp>
    </p:spTree>
    <p:extLst>
      <p:ext uri="{BB962C8B-B14F-4D97-AF65-F5344CB8AC3E}">
        <p14:creationId xmlns:p14="http://schemas.microsoft.com/office/powerpoint/2010/main" val="1915961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3437-682C-5004-52F9-0497755A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2EA5-0C36-0BD2-2477-C5CB074D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0"/>
            <a:ext cx="9906171" cy="1325563"/>
          </a:xfrm>
        </p:spPr>
        <p:txBody>
          <a:bodyPr/>
          <a:lstStyle/>
          <a:p>
            <a:r>
              <a:rPr lang="en-GB" dirty="0"/>
              <a:t>Optimising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6E2F9-DFCC-B8D7-D965-0C42F0227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325562"/>
            <a:ext cx="11353800" cy="5532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Video analytics optimisers define: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Objective function, from the given domain</a:t>
            </a:r>
          </a:p>
          <a:p>
            <a:pPr lvl="1"/>
            <a:r>
              <a:rPr lang="en-GB" dirty="0"/>
              <a:t>Maximise quality (e.g. stream resolution, object detection accuracy) </a:t>
            </a:r>
          </a:p>
          <a:p>
            <a:pPr lvl="1"/>
            <a:r>
              <a:rPr lang="en-GB" dirty="0"/>
              <a:t>Minimise costs (e.g. stream lag, GPU cost)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Profiler, to understand its quality and costs by </a:t>
            </a:r>
            <a:r>
              <a:rPr lang="en-GB" b="1" dirty="0"/>
              <a:t>taking a sample of the stream</a:t>
            </a:r>
            <a:r>
              <a:rPr lang="en-GB" dirty="0"/>
              <a:t> and create a “config” (configuration) space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Optimiser, to produce the config to solve the objective function in our config space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6390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2770-BAFF-B571-188F-032B8B8D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14CB-603A-CA80-6864-A8B23EFD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0"/>
            <a:ext cx="11683254" cy="1325563"/>
          </a:xfrm>
        </p:spPr>
        <p:txBody>
          <a:bodyPr/>
          <a:lstStyle/>
          <a:p>
            <a:r>
              <a:rPr lang="en-GB" dirty="0"/>
              <a:t>Optimisers before Chameleon: MCDNN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A9516-AC5E-E63A-23B3-5EC7E20AA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38037"/>
            <a:ext cx="11353800" cy="5209876"/>
          </a:xfrm>
        </p:spPr>
        <p:txBody>
          <a:bodyPr>
            <a:normAutofit/>
          </a:bodyPr>
          <a:lstStyle/>
          <a:p>
            <a:r>
              <a:rPr lang="en-GB" dirty="0"/>
              <a:t>2016: MCDNN optimises model knobs for mobile-deployed models</a:t>
            </a:r>
            <a:endParaRPr lang="en-GB" b="1" dirty="0"/>
          </a:p>
          <a:p>
            <a:pPr lvl="1"/>
            <a:r>
              <a:rPr lang="en-GB" dirty="0"/>
              <a:t>Object function: Minimise data and battery usage to achieve target false positive and false negative rates</a:t>
            </a:r>
          </a:p>
          <a:p>
            <a:pPr lvl="1"/>
            <a:r>
              <a:rPr lang="en-GB" dirty="0"/>
              <a:t>Config space: “Catalogue” of “cascading” simplifications a full neural network</a:t>
            </a:r>
          </a:p>
          <a:p>
            <a:pPr lvl="2"/>
            <a:r>
              <a:rPr lang="en-GB" sz="2400" dirty="0"/>
              <a:t>Difference detectors: check if object is duplicate of previous frame</a:t>
            </a:r>
          </a:p>
          <a:p>
            <a:pPr lvl="2"/>
            <a:r>
              <a:rPr lang="en-GB" sz="2400" dirty="0"/>
              <a:t>Specialised models: models are retrained on “dominant” (always appearing) objects identified at start of stream</a:t>
            </a:r>
          </a:p>
          <a:p>
            <a:pPr lvl="2"/>
            <a:r>
              <a:rPr lang="en-GB" sz="2400" dirty="0"/>
              <a:t>Full neural network only used if specialised models not confident</a:t>
            </a:r>
          </a:p>
          <a:p>
            <a:pPr lvl="1"/>
            <a:r>
              <a:rPr lang="en-GB" dirty="0"/>
              <a:t>Optimiser: selects model and decides whether execution is local, cloud, or hybrid </a:t>
            </a:r>
          </a:p>
          <a:p>
            <a:pPr marL="457200" lvl="1" indent="0">
              <a:buNone/>
            </a:pPr>
            <a:endParaRPr lang="en-GB" sz="2800" dirty="0"/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7017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3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0C1F3-C23D-068D-F573-91EE132B6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1CDF-BFE2-AFD4-BB24-4EC9B95AB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0"/>
            <a:ext cx="11683254" cy="1325563"/>
          </a:xfrm>
        </p:spPr>
        <p:txBody>
          <a:bodyPr/>
          <a:lstStyle/>
          <a:p>
            <a:r>
              <a:rPr lang="en-GB" dirty="0"/>
              <a:t>Optimisers before Chameleon: Building on MCDNN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BF859-C664-2528-2E54-1F8DAE69C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28512"/>
            <a:ext cx="11353800" cy="5209876"/>
          </a:xfrm>
        </p:spPr>
        <p:txBody>
          <a:bodyPr>
            <a:normAutofit/>
          </a:bodyPr>
          <a:lstStyle/>
          <a:p>
            <a:r>
              <a:rPr lang="en-GB" sz="2800" dirty="0"/>
              <a:t>2017: </a:t>
            </a:r>
            <a:r>
              <a:rPr lang="en-GB" sz="2800" dirty="0" err="1"/>
              <a:t>NoScope</a:t>
            </a:r>
            <a:r>
              <a:rPr lang="en-GB" sz="2800" dirty="0"/>
              <a:t> uses MCDNN for cloud deployment only</a:t>
            </a:r>
            <a:endParaRPr lang="en-GB" dirty="0"/>
          </a:p>
          <a:p>
            <a:pPr lvl="1"/>
            <a:r>
              <a:rPr lang="en-GB" dirty="0"/>
              <a:t>Objective function to minimise GPU and cloud cost, optimiser only selects model</a:t>
            </a:r>
          </a:p>
          <a:p>
            <a:r>
              <a:rPr lang="en-GB" dirty="0"/>
              <a:t>2017: FVC uses specialised models for a </a:t>
            </a:r>
            <a:r>
              <a:rPr lang="en-GB" b="1" dirty="0"/>
              <a:t>dynamic</a:t>
            </a:r>
            <a:r>
              <a:rPr lang="en-GB" dirty="0"/>
              <a:t> set of dominant objects</a:t>
            </a:r>
          </a:p>
          <a:p>
            <a:pPr lvl="1"/>
            <a:r>
              <a:rPr lang="en-GB" dirty="0"/>
              <a:t>Periodically use complex “oracle” model to find dominant objects</a:t>
            </a:r>
          </a:p>
          <a:p>
            <a:pPr lvl="1"/>
            <a:r>
              <a:rPr lang="en-GB" dirty="0"/>
              <a:t>Expensive to periodically consult oracle, done so infrequently</a:t>
            </a:r>
          </a:p>
          <a:p>
            <a:pPr lvl="1"/>
            <a:r>
              <a:rPr lang="en-GB" dirty="0"/>
              <a:t>Config space: oracle and simpler model “specialised” on dominant objects set</a:t>
            </a:r>
          </a:p>
          <a:p>
            <a:pPr lvl="1"/>
            <a:r>
              <a:rPr lang="en-GB" dirty="0"/>
              <a:t>Optimiser: Use specialised model if predicted to be accurate enough</a:t>
            </a:r>
          </a:p>
          <a:p>
            <a:r>
              <a:rPr lang="en-GB" dirty="0"/>
              <a:t>2018: Focus builds on </a:t>
            </a:r>
            <a:r>
              <a:rPr lang="en-GB" dirty="0" err="1"/>
              <a:t>NoScope</a:t>
            </a:r>
            <a:r>
              <a:rPr lang="en-GB" dirty="0"/>
              <a:t> with a better optimiser</a:t>
            </a:r>
          </a:p>
          <a:p>
            <a:pPr lvl="1"/>
            <a:r>
              <a:rPr lang="en-GB" dirty="0"/>
              <a:t>Objective function: Added minimisation of classification latency</a:t>
            </a:r>
          </a:p>
          <a:p>
            <a:pPr lvl="1"/>
            <a:r>
              <a:rPr lang="en-GB" dirty="0"/>
              <a:t>Top-</a:t>
            </a:r>
            <a:r>
              <a:rPr lang="en-GB" i="1" dirty="0"/>
              <a:t>k</a:t>
            </a:r>
            <a:r>
              <a:rPr lang="en-GB" dirty="0"/>
              <a:t> indexing: cheapest model likely fails to correctly label object so output </a:t>
            </a:r>
            <a:r>
              <a:rPr lang="en-GB" i="1" dirty="0"/>
              <a:t>k</a:t>
            </a:r>
            <a:r>
              <a:rPr lang="en-GB" dirty="0"/>
              <a:t> labels</a:t>
            </a:r>
          </a:p>
          <a:p>
            <a:pPr marL="0" indent="0">
              <a:buNone/>
            </a:pPr>
            <a:r>
              <a:rPr lang="en-GB" dirty="0"/>
              <a:t>These cascade optimisers </a:t>
            </a:r>
            <a:r>
              <a:rPr lang="en-GB" b="1" dirty="0"/>
              <a:t>sacrifice generalisability for performance</a:t>
            </a:r>
          </a:p>
        </p:txBody>
      </p:sp>
    </p:spTree>
    <p:extLst>
      <p:ext uri="{BB962C8B-B14F-4D97-AF65-F5344CB8AC3E}">
        <p14:creationId xmlns:p14="http://schemas.microsoft.com/office/powerpoint/2010/main" val="2243788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FA6A-1CDB-1D67-B36B-D8C18865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2D06-FE26-5CFB-5B5F-1E033024A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24" y="0"/>
            <a:ext cx="9906171" cy="1325563"/>
          </a:xfrm>
        </p:spPr>
        <p:txBody>
          <a:bodyPr/>
          <a:lstStyle/>
          <a:p>
            <a:r>
              <a:rPr lang="en-GB" dirty="0"/>
              <a:t>Generalisability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1AB0C9-D2BD-77CD-45FF-B22059AF6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24" y="1325563"/>
            <a:ext cx="11744576" cy="5395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Chameleon’s design avoids sacrificing generalisability</a:t>
            </a:r>
          </a:p>
          <a:p>
            <a:r>
              <a:rPr lang="en-GB" dirty="0"/>
              <a:t>Not limited to a specific type of video feed or environment</a:t>
            </a:r>
          </a:p>
          <a:p>
            <a:pPr lvl="1"/>
            <a:r>
              <a:rPr lang="en-GB" dirty="0"/>
              <a:t>Chameleon was tested on an indoor coffee shop, tracking human movement, and an outdoor traffic camera, tracking vehicles </a:t>
            </a:r>
          </a:p>
          <a:p>
            <a:pPr lvl="1"/>
            <a:r>
              <a:rPr lang="en-GB" dirty="0"/>
              <a:t>Not specialised for just one type of environment (e.g. only traffic monitoring or only indoor surveillance), so beats cascade optimisers fairly</a:t>
            </a:r>
          </a:p>
          <a:p>
            <a:r>
              <a:rPr lang="en-GB" dirty="0"/>
              <a:t>Adapts to changes in video content or environmental conditions</a:t>
            </a:r>
          </a:p>
          <a:p>
            <a:pPr lvl="1"/>
            <a:r>
              <a:rPr lang="en-GB" dirty="0"/>
              <a:t>Chameleon was tested across 24 hours covering different lighting conditions, weather and shifts in object density (e.g. rush hours)</a:t>
            </a:r>
          </a:p>
          <a:p>
            <a:pPr lvl="1"/>
            <a:r>
              <a:rPr lang="en-GB" dirty="0"/>
              <a:t>Can react to changes in environment without need to retrain specialised models or difference detectors </a:t>
            </a:r>
          </a:p>
        </p:txBody>
      </p:sp>
    </p:spTree>
    <p:extLst>
      <p:ext uri="{BB962C8B-B14F-4D97-AF65-F5344CB8AC3E}">
        <p14:creationId xmlns:p14="http://schemas.microsoft.com/office/powerpoint/2010/main" val="495047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A9786-8E5E-7679-0D81-8D5CD780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E94F-AF96-F4AF-0750-7CD762E4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Segoe UI"/>
                <a:cs typeface="Segoe UI"/>
              </a:rPr>
              <a:t>Strengths of Chameleon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ACF52-E9F5-0B21-2665-CFCB3475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Monday 14th April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8EDE-1F51-696D-3CB9-9F9047C8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Chameleon: Scalable Adaptation of Video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25E1-12F3-0676-20E1-A348378F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341D-FE04-4749-9257-9566869387C5}" type="slidenum">
              <a:rPr lang="en-GB" smtClean="0"/>
              <a:t>25</a:t>
            </a:fld>
            <a:endParaRPr lang="en-GB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8FB03B1-D115-D455-CA08-A3E5372209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 i="1" kern="100" dirty="0">
                <a:solidFill>
                  <a:srgbClr val="2F5496"/>
                </a:solidFill>
                <a:latin typeface="Times New Roman"/>
                <a:cs typeface="Times New Roman"/>
              </a:rPr>
              <a:t>5 Core Strengths to Chameleon:</a:t>
            </a:r>
            <a:endParaRPr lang="en-GB" b="1" i="1" u="none" strike="noStrike" kern="100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b="1" i="1" kern="100" dirty="0">
              <a:solidFill>
                <a:srgbClr val="2F5496"/>
              </a:solidFill>
              <a:latin typeface="Times New Roman"/>
              <a:cs typeface="Times New Roman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Strength 1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Temporal Correlation Optimisation</a:t>
            </a:r>
            <a:endParaRPr lang="en-US" dirty="0">
              <a:solidFill>
                <a:schemeClr val="bg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2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Spatial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Correlation Optimisation</a:t>
            </a:r>
            <a:endParaRPr lang="en-US" dirty="0">
              <a:solidFill>
                <a:schemeClr val="bg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Strength 3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—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Smart Profiling Using Knob Independence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v"/>
            </a:pPr>
            <a:r>
              <a:rPr lang="en-GB" dirty="0">
                <a:solidFill>
                  <a:srgbClr val="DDDDDD"/>
                </a:solidFill>
                <a:latin typeface="Times New Roman"/>
                <a:cs typeface="Times New Roman"/>
              </a:rPr>
              <a:t>Strength 4 — Generalisable Solution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v"/>
            </a:pPr>
            <a:r>
              <a:rPr lang="en-GB" b="1" dirty="0">
                <a:latin typeface="Times New Roman"/>
                <a:cs typeface="Times New Roman"/>
              </a:rPr>
              <a:t> Strength 5 — Enables Dynamic Profiling</a:t>
            </a:r>
          </a:p>
        </p:txBody>
      </p:sp>
    </p:spTree>
    <p:extLst>
      <p:ext uri="{BB962C8B-B14F-4D97-AF65-F5344CB8AC3E}">
        <p14:creationId xmlns:p14="http://schemas.microsoft.com/office/powerpoint/2010/main" val="3313654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D934-AB45-45FA-9642-9C63AF8B8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D7B3-5F64-043B-1336-9E9D119D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0"/>
            <a:ext cx="9906171" cy="1325563"/>
          </a:xfrm>
        </p:spPr>
        <p:txBody>
          <a:bodyPr/>
          <a:lstStyle/>
          <a:p>
            <a:r>
              <a:rPr lang="en-GB" dirty="0"/>
              <a:t>Video analytics schedulers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F685-DAFD-A02D-D26E-B95539F81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325562"/>
            <a:ext cx="11353800" cy="5532437"/>
          </a:xfrm>
        </p:spPr>
        <p:txBody>
          <a:bodyPr>
            <a:normAutofit/>
          </a:bodyPr>
          <a:lstStyle/>
          <a:p>
            <a:r>
              <a:rPr lang="en-GB" dirty="0"/>
              <a:t>How do we allocate resources to multiple analytics pipelines on the same cluster?</a:t>
            </a:r>
          </a:p>
          <a:p>
            <a:r>
              <a:rPr lang="en-GB" dirty="0"/>
              <a:t>What if these pipelines have conflicting demands?</a:t>
            </a:r>
          </a:p>
          <a:p>
            <a:pPr lvl="1"/>
            <a:r>
              <a:rPr lang="en-GB" dirty="0"/>
              <a:t>e.g. police facial recognition needs a higher accuracy than customer counting</a:t>
            </a:r>
          </a:p>
          <a:p>
            <a:pPr lvl="1"/>
            <a:r>
              <a:rPr lang="en-GB" dirty="0"/>
              <a:t>e.g. a Twitch stream can have more lag than airport security scanners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8943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1A06-2E77-AA56-13E0-CBC631F12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AEEC-DC68-9C9B-2A68-C415A0029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0"/>
            <a:ext cx="11683254" cy="1325563"/>
          </a:xfrm>
        </p:spPr>
        <p:txBody>
          <a:bodyPr/>
          <a:lstStyle/>
          <a:p>
            <a:r>
              <a:rPr lang="en-GB" dirty="0"/>
              <a:t>Schedulers before Chameleon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12339-580E-6166-4329-122C7FF48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325563"/>
            <a:ext cx="11353800" cy="5389562"/>
          </a:xfrm>
        </p:spPr>
        <p:txBody>
          <a:bodyPr>
            <a:normAutofit/>
          </a:bodyPr>
          <a:lstStyle/>
          <a:p>
            <a:r>
              <a:rPr lang="en-GB" dirty="0"/>
              <a:t>2015: Vigil optimises bandwidth</a:t>
            </a:r>
            <a:r>
              <a:rPr lang="en-GB" b="1" dirty="0"/>
              <a:t> </a:t>
            </a:r>
            <a:r>
              <a:rPr lang="en-GB" dirty="0"/>
              <a:t>for network of surveillance cameras</a:t>
            </a:r>
          </a:p>
          <a:p>
            <a:pPr lvl="1"/>
            <a:r>
              <a:rPr lang="en-GB" dirty="0"/>
              <a:t>Objective function: maximise useful frames and minimise bandwidth usage</a:t>
            </a:r>
          </a:p>
          <a:p>
            <a:pPr lvl="1"/>
            <a:r>
              <a:rPr lang="en-GB" dirty="0"/>
              <a:t>Optimiser: selects “important” frames, calculated by edge computing node</a:t>
            </a:r>
          </a:p>
          <a:p>
            <a:pPr lvl="1"/>
            <a:r>
              <a:rPr lang="en-GB" dirty="0"/>
              <a:t>Visual clustering: avoid reuploading same frame from multiple cameras</a:t>
            </a:r>
          </a:p>
          <a:p>
            <a:pPr lvl="1"/>
            <a:r>
              <a:rPr lang="en-GB" dirty="0"/>
              <a:t>Similar system employed in Avigilon Control </a:t>
            </a:r>
            <a:r>
              <a:rPr lang="en-GB" dirty="0" err="1"/>
              <a:t>Center</a:t>
            </a:r>
            <a:r>
              <a:rPr lang="en-GB" dirty="0"/>
              <a:t> today</a:t>
            </a:r>
          </a:p>
          <a:p>
            <a:r>
              <a:rPr lang="en-GB" dirty="0"/>
              <a:t>2017: </a:t>
            </a:r>
            <a:r>
              <a:rPr lang="en-GB" dirty="0" err="1"/>
              <a:t>VideoStorm</a:t>
            </a:r>
            <a:r>
              <a:rPr lang="en-GB" dirty="0"/>
              <a:t> applies video analytics optimiser architecture</a:t>
            </a:r>
          </a:p>
          <a:p>
            <a:pPr lvl="1"/>
            <a:r>
              <a:rPr lang="en-GB" dirty="0"/>
              <a:t>Objective function: Maximise “utility” (accuracy and low processing lag) of all streams without any one stream falling below its quality requirement (e.g. false negatives)</a:t>
            </a:r>
          </a:p>
          <a:p>
            <a:pPr lvl="1"/>
            <a:r>
              <a:rPr lang="en-GB" dirty="0"/>
              <a:t>Beats schedulers based on YARN and Mesos (</a:t>
            </a:r>
            <a:r>
              <a:rPr lang="en-GB" dirty="0" err="1"/>
              <a:t>e.g</a:t>
            </a:r>
            <a:r>
              <a:rPr lang="en-GB" dirty="0"/>
              <a:t> Spark Streaming) that use fairness because they ignore video quality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These schedulers (and cascade optimisers) use static profiling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3836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16F5-429D-84E1-441D-E4113F457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059D8-0207-B1D6-543C-DEAB403B7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24" y="0"/>
            <a:ext cx="9906171" cy="1325563"/>
          </a:xfrm>
        </p:spPr>
        <p:txBody>
          <a:bodyPr/>
          <a:lstStyle/>
          <a:p>
            <a:r>
              <a:rPr lang="en-GB" dirty="0"/>
              <a:t>Static profiling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A6D917-B8C4-F292-7A90-C2B8E39FD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24" y="1325563"/>
            <a:ext cx="11297152" cy="5395912"/>
          </a:xfrm>
        </p:spPr>
        <p:txBody>
          <a:bodyPr>
            <a:normAutofit/>
          </a:bodyPr>
          <a:lstStyle/>
          <a:p>
            <a:r>
              <a:rPr lang="en-GB" dirty="0"/>
              <a:t>Config selected through static profiling become suboptimal if stream is “non-stationary” and profiling sample becomes unrepresentative</a:t>
            </a:r>
          </a:p>
          <a:p>
            <a:pPr lvl="1"/>
            <a:r>
              <a:rPr lang="en-GB" dirty="0"/>
              <a:t>e.g. if the speed of cars changes in a traffic camera stream</a:t>
            </a:r>
          </a:p>
        </p:txBody>
      </p:sp>
    </p:spTree>
    <p:extLst>
      <p:ext uri="{BB962C8B-B14F-4D97-AF65-F5344CB8AC3E}">
        <p14:creationId xmlns:p14="http://schemas.microsoft.com/office/powerpoint/2010/main" val="2480471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2FF2-E98B-80A4-A79D-A1E32479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073E-6D67-25EA-97A9-D55B6A99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9525"/>
            <a:ext cx="11683254" cy="1325563"/>
          </a:xfrm>
        </p:spPr>
        <p:txBody>
          <a:bodyPr/>
          <a:lstStyle/>
          <a:p>
            <a:r>
              <a:rPr lang="en-GB" dirty="0"/>
              <a:t>Static vs Dynamic profiling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89A318-FB75-7784-7846-BDAC496A9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8" y="1055164"/>
            <a:ext cx="7297669" cy="57044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7E8294-4F93-C51D-DAA9-7F4985224555}"/>
              </a:ext>
            </a:extLst>
          </p:cNvPr>
          <p:cNvSpPr txBox="1"/>
          <p:nvPr/>
        </p:nvSpPr>
        <p:spPr>
          <a:xfrm>
            <a:off x="7502013" y="1484259"/>
            <a:ext cx="46003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Dynamic profilers chooses configurations that achieve a higher accuracy (F1 score) with the same resources compared to static profilers</a:t>
            </a:r>
          </a:p>
        </p:txBody>
      </p:sp>
    </p:spTree>
    <p:extLst>
      <p:ext uri="{BB962C8B-B14F-4D97-AF65-F5344CB8AC3E}">
        <p14:creationId xmlns:p14="http://schemas.microsoft.com/office/powerpoint/2010/main" val="3392884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C11D-525B-AE6F-A942-9DE374B0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18255"/>
            <a:ext cx="9906171" cy="1325563"/>
          </a:xfrm>
        </p:spPr>
        <p:txBody>
          <a:bodyPr/>
          <a:lstStyle/>
          <a:p>
            <a:r>
              <a:rPr lang="en-GB" dirty="0"/>
              <a:t>Dynamic 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13CA4-9151-9660-B7BA-FE691AC1B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5023644"/>
          </a:xfrm>
        </p:spPr>
        <p:txBody>
          <a:bodyPr>
            <a:normAutofit/>
          </a:bodyPr>
          <a:lstStyle/>
          <a:p>
            <a:r>
              <a:rPr lang="en-GB" dirty="0"/>
              <a:t>How can we dynamically profile a stream?</a:t>
            </a:r>
          </a:p>
          <a:p>
            <a:r>
              <a:rPr lang="en-GB" dirty="0"/>
              <a:t>Too expensive to “periodically” profile</a:t>
            </a:r>
            <a:r>
              <a:rPr lang="en-GB" b="1" dirty="0"/>
              <a:t> </a:t>
            </a:r>
            <a:r>
              <a:rPr lang="en-GB" dirty="0"/>
              <a:t>and update the config (e.g. FVC)</a:t>
            </a:r>
          </a:p>
          <a:p>
            <a:pPr lvl="1"/>
            <a:r>
              <a:rPr lang="en-GB" dirty="0"/>
              <a:t>Cost of searching our config space grows exponentially with number of knobs</a:t>
            </a:r>
          </a:p>
          <a:p>
            <a:pPr lvl="1"/>
            <a:r>
              <a:rPr lang="en-GB" dirty="0"/>
              <a:t>Outweighs gains from using optimal knob configurations</a:t>
            </a:r>
          </a:p>
          <a:p>
            <a:r>
              <a:rPr lang="en-GB" dirty="0"/>
              <a:t>As Dylan established, Chameleon makes assumptions about streams to make searching our config space cheaper and reduce its size</a:t>
            </a:r>
          </a:p>
          <a:p>
            <a:r>
              <a:rPr lang="en-GB" dirty="0"/>
              <a:t>Effect of speed ups depends how true they are</a:t>
            </a:r>
          </a:p>
          <a:p>
            <a:r>
              <a:rPr lang="en-GB" dirty="0"/>
              <a:t>If speed ups are great enough, we can periodically profile a non-stationary stream to select optimal configs </a:t>
            </a:r>
          </a:p>
        </p:txBody>
      </p:sp>
    </p:spTree>
    <p:extLst>
      <p:ext uri="{BB962C8B-B14F-4D97-AF65-F5344CB8AC3E}">
        <p14:creationId xmlns:p14="http://schemas.microsoft.com/office/powerpoint/2010/main" val="887339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28BBE-52D1-A127-FE92-8848A9385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CB05B-23DB-FF0D-83D0-71DE399DA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24" y="0"/>
            <a:ext cx="11744576" cy="1325563"/>
          </a:xfrm>
        </p:spPr>
        <p:txBody>
          <a:bodyPr/>
          <a:lstStyle/>
          <a:p>
            <a:r>
              <a:rPr lang="en-GB" dirty="0"/>
              <a:t>Periodic vs Chameleon profiling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E4989-291F-EA72-5338-12506FF77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0" y="1325563"/>
            <a:ext cx="3106945" cy="36873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5F2F72-4675-61DB-3F67-779ACCA98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611" y="1325562"/>
            <a:ext cx="2840351" cy="36873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FFDACB-F8C3-A0E2-DEF6-AF715716A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137" y="1325563"/>
            <a:ext cx="3057768" cy="36873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715320-3016-63C4-F385-67B716EBEE38}"/>
              </a:ext>
            </a:extLst>
          </p:cNvPr>
          <p:cNvSpPr txBox="1"/>
          <p:nvPr/>
        </p:nvSpPr>
        <p:spPr>
          <a:xfrm>
            <a:off x="633989" y="5070772"/>
            <a:ext cx="11262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Chameleon chooses a configuration that’s as accurate and as resource intensive as “exhaustive” (periodic) profiling </a:t>
            </a:r>
            <a:r>
              <a:rPr lang="en-GB" sz="2400" b="1" dirty="0"/>
              <a:t>but at a fraction of the “profiling” (search) cost</a:t>
            </a:r>
          </a:p>
        </p:txBody>
      </p:sp>
    </p:spTree>
    <p:extLst>
      <p:ext uri="{BB962C8B-B14F-4D97-AF65-F5344CB8AC3E}">
        <p14:creationId xmlns:p14="http://schemas.microsoft.com/office/powerpoint/2010/main" val="3460773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A86F53-E791-3D59-B795-DCB5E9CE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3ED5-4B42-705B-4281-0F9533E5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0"/>
            <a:ext cx="11683254" cy="1325563"/>
          </a:xfrm>
        </p:spPr>
        <p:txBody>
          <a:bodyPr/>
          <a:lstStyle/>
          <a:p>
            <a:r>
              <a:rPr lang="en-GB" dirty="0"/>
              <a:t>Chameleon and 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4F4BE-59A0-6665-89D3-8207E6DD2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325562"/>
            <a:ext cx="11353800" cy="5532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Chameleon complements bandwidth-reducing edge technologies (e.g. Vigil)</a:t>
            </a:r>
          </a:p>
          <a:p>
            <a:pPr marL="0" indent="0">
              <a:buNone/>
            </a:pPr>
            <a:r>
              <a:rPr lang="en-GB" dirty="0"/>
              <a:t>Techniques used in Chameleon will “carry over” for bandwidth problems</a:t>
            </a:r>
          </a:p>
          <a:p>
            <a:r>
              <a:rPr lang="en-GB" dirty="0"/>
              <a:t>2019: </a:t>
            </a:r>
            <a:r>
              <a:rPr lang="en-GB" dirty="0" err="1"/>
              <a:t>FilterForward</a:t>
            </a:r>
            <a:r>
              <a:rPr lang="en-GB" dirty="0"/>
              <a:t> reduces bandwidth usage by only sending domain-“important” frames (</a:t>
            </a:r>
            <a:r>
              <a:rPr lang="en-GB" dirty="0" err="1"/>
              <a:t>e.g</a:t>
            </a:r>
            <a:r>
              <a:rPr lang="en-GB" dirty="0"/>
              <a:t>, a defect) from edge to cloud</a:t>
            </a:r>
          </a:p>
          <a:p>
            <a:pPr lvl="1"/>
            <a:r>
              <a:rPr lang="en-GB" dirty="0"/>
              <a:t>“Feature extractor” large neural network on cloud uses high resolution video to create a “map” between important features and activations</a:t>
            </a:r>
          </a:p>
          <a:p>
            <a:pPr lvl="1"/>
            <a:r>
              <a:rPr lang="en-GB" dirty="0"/>
              <a:t>“Micro-classifiers” on the edge use map to classify frames as relevant or not</a:t>
            </a:r>
          </a:p>
          <a:p>
            <a:pPr lvl="1"/>
            <a:r>
              <a:rPr lang="en-GB" dirty="0"/>
              <a:t>Chameleon knob-turning indirectly improves efficiency, </a:t>
            </a:r>
            <a:r>
              <a:rPr lang="en-GB" dirty="0" err="1"/>
              <a:t>FilterForward’s</a:t>
            </a:r>
            <a:r>
              <a:rPr lang="en-GB" dirty="0"/>
              <a:t> sharing computation improves efficiency directly</a:t>
            </a:r>
          </a:p>
          <a:p>
            <a:pPr lvl="1"/>
            <a:r>
              <a:rPr lang="en-GB" dirty="0"/>
              <a:t>Feature extractor makes </a:t>
            </a:r>
            <a:r>
              <a:rPr lang="en-GB" dirty="0" err="1"/>
              <a:t>microclassifiers</a:t>
            </a:r>
            <a:r>
              <a:rPr lang="en-GB" dirty="0"/>
              <a:t> generalisable as they share activations</a:t>
            </a:r>
          </a:p>
          <a:p>
            <a:pPr marL="0" indent="0">
              <a:buNone/>
            </a:pPr>
            <a:r>
              <a:rPr lang="en-GB" dirty="0"/>
              <a:t>These edge-to-cloud technologies are being adopted by industry</a:t>
            </a:r>
          </a:p>
          <a:p>
            <a:pPr lvl="1"/>
            <a:r>
              <a:rPr lang="en-GB" dirty="0"/>
              <a:t>Part of the IP camera protocol ONVIF as Profile G </a:t>
            </a:r>
          </a:p>
          <a:p>
            <a:pPr lvl="1"/>
            <a:r>
              <a:rPr lang="en-GB" dirty="0"/>
              <a:t>Startups edge-to-cloud analytics, e.g. </a:t>
            </a:r>
            <a:r>
              <a:rPr lang="en-GB" dirty="0" err="1"/>
              <a:t>BriefCam</a:t>
            </a: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03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F57E3A-5D4B-923D-946D-28A9D574D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A269-FF1E-62F4-3407-FAA5F96B2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0"/>
            <a:ext cx="11683254" cy="1325563"/>
          </a:xfrm>
        </p:spPr>
        <p:txBody>
          <a:bodyPr/>
          <a:lstStyle/>
          <a:p>
            <a:r>
              <a:rPr lang="en-GB" dirty="0"/>
              <a:t>Improving frame removal with dynamic 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FB13-A708-7C43-AE38-94D2E0A35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325562"/>
            <a:ext cx="11353800" cy="5532437"/>
          </a:xfrm>
        </p:spPr>
        <p:txBody>
          <a:bodyPr>
            <a:normAutofit/>
          </a:bodyPr>
          <a:lstStyle/>
          <a:p>
            <a:r>
              <a:rPr lang="en-GB" dirty="0"/>
              <a:t>2020: </a:t>
            </a:r>
            <a:r>
              <a:rPr lang="en-GB" dirty="0" err="1"/>
              <a:t>Reducto</a:t>
            </a:r>
            <a:r>
              <a:rPr lang="en-GB" dirty="0"/>
              <a:t> improves on </a:t>
            </a:r>
            <a:r>
              <a:rPr lang="en-GB" dirty="0" err="1"/>
              <a:t>FilterForward</a:t>
            </a:r>
            <a:r>
              <a:rPr lang="en-GB" dirty="0"/>
              <a:t> with a simpler classifier and dynamic adaptation</a:t>
            </a:r>
          </a:p>
          <a:p>
            <a:pPr lvl="1"/>
            <a:r>
              <a:rPr lang="en-GB" dirty="0"/>
              <a:t>Feature extractor maps indicators of a change in scene instead of entire features</a:t>
            </a:r>
          </a:p>
          <a:p>
            <a:pPr lvl="1"/>
            <a:r>
              <a:rPr lang="en-GB" dirty="0"/>
              <a:t>Micro-classifier reduced in complexity to a binomial regression model </a:t>
            </a:r>
          </a:p>
          <a:p>
            <a:pPr lvl="1"/>
            <a:r>
              <a:rPr lang="en-GB" dirty="0"/>
              <a:t>Dynamic profiling by failure: if micro-classifiers begin to fail, edge sends video to cloud and feature extractor produces a new map</a:t>
            </a:r>
          </a:p>
          <a:p>
            <a:pPr lvl="1"/>
            <a:r>
              <a:rPr lang="en-GB" dirty="0"/>
              <a:t>Outperformed </a:t>
            </a:r>
            <a:r>
              <a:rPr lang="en-GB" dirty="0" err="1"/>
              <a:t>FilterForward</a:t>
            </a:r>
            <a:r>
              <a:rPr lang="en-GB" dirty="0"/>
              <a:t> and reduced processing cost by 39% compared to Chameleon, but can be used alongside Chameleon too</a:t>
            </a:r>
          </a:p>
          <a:p>
            <a:pPr lvl="1"/>
            <a:r>
              <a:rPr lang="en-GB" dirty="0"/>
              <a:t>Profiling scheme could be improved to use spatial and temporal correlations before failure occurs to avoid excess bandwidth usage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8015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E8294-5220-833F-D410-E4AD0C32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38C5-C5B2-0942-D384-ECA0EB3A7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24" y="0"/>
            <a:ext cx="9906171" cy="1325563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53E1D7-0177-0745-F0A7-E8FFBB067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24" y="1325563"/>
            <a:ext cx="11744576" cy="5395912"/>
          </a:xfrm>
        </p:spPr>
        <p:txBody>
          <a:bodyPr>
            <a:normAutofit/>
          </a:bodyPr>
          <a:lstStyle/>
          <a:p>
            <a:r>
              <a:rPr lang="en-GB" dirty="0"/>
              <a:t>Chameleon has a strong technical core</a:t>
            </a:r>
          </a:p>
          <a:p>
            <a:pPr lvl="1"/>
            <a:r>
              <a:rPr lang="en-GB" dirty="0"/>
              <a:t>Exploits temporal correlations</a:t>
            </a:r>
          </a:p>
          <a:p>
            <a:pPr lvl="1"/>
            <a:r>
              <a:rPr lang="en-GB" dirty="0"/>
              <a:t>Exploits spatial correlations</a:t>
            </a:r>
          </a:p>
          <a:p>
            <a:pPr lvl="1"/>
            <a:r>
              <a:rPr lang="en-GB" dirty="0"/>
              <a:t>Employs a novel greedy optimisation algorithm made possible by independence of knobs</a:t>
            </a:r>
          </a:p>
          <a:p>
            <a:r>
              <a:rPr lang="en-GB" dirty="0"/>
              <a:t>Chameleon made a significant impact in the video analytics space</a:t>
            </a:r>
          </a:p>
          <a:p>
            <a:pPr lvl="1"/>
            <a:r>
              <a:rPr lang="en-GB" dirty="0"/>
              <a:t>Generalisable</a:t>
            </a:r>
          </a:p>
          <a:p>
            <a:pPr lvl="1"/>
            <a:r>
              <a:rPr lang="en-GB" dirty="0"/>
              <a:t>Enabled dynamic profiling for video analytics, which produced enormous performance gains</a:t>
            </a:r>
          </a:p>
          <a:p>
            <a:r>
              <a:rPr lang="en-GB" dirty="0"/>
              <a:t>Chameleon’s impact extends to other fields</a:t>
            </a:r>
          </a:p>
          <a:p>
            <a:pPr lvl="1"/>
            <a:r>
              <a:rPr lang="en-GB" dirty="0"/>
              <a:t>Application in bandwidth optimisation</a:t>
            </a:r>
          </a:p>
          <a:p>
            <a:pPr lvl="1"/>
            <a:r>
              <a:rPr lang="en-GB" dirty="0"/>
              <a:t>Foundations of other research papers and industrial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3374139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2922-FC56-BA0B-74BB-32E24B47A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906171" cy="1325563"/>
          </a:xfrm>
        </p:spPr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C4CEE-D8BF-EB43-5B3C-7AEF42023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8992"/>
            <a:ext cx="12192000" cy="5849007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M. Zhao, Y. Liu, J. Liu, and X. Zeng, “Exploiting Spatial-temporal Correlations for Video Anomaly Detection,” in </a:t>
            </a:r>
            <a:r>
              <a:rPr lang="en-GB" i="1" dirty="0"/>
              <a:t>2022 26th International Conference on Pattern Recognition (ICPR)</a:t>
            </a:r>
            <a:r>
              <a:rPr lang="en-GB" dirty="0"/>
              <a:t>, Montreal, QC, Canada: IEEE, Aug. 2022, pp. 1727–1733, </a:t>
            </a:r>
            <a:r>
              <a:rPr lang="en-GB" dirty="0" err="1"/>
              <a:t>doi</a:t>
            </a:r>
            <a:r>
              <a:rPr lang="en-GB" dirty="0"/>
              <a:t>: 10.1109/ICPR56361.2022.9956287.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J. Liu, Z.-J. Zha, W. Wu, K. Zheng, and Q. Sun, “Spatial-Temporal Correlation and Topology Learning for Person Re-Identification in Videos,” in </a:t>
            </a:r>
            <a:r>
              <a:rPr lang="en-GB" i="1" dirty="0"/>
              <a:t>2021 IEEE/CVF Conference on Computer Vision and Pattern Recognition (CVPR)</a:t>
            </a:r>
            <a:r>
              <a:rPr lang="en-GB" dirty="0"/>
              <a:t>, Nashville, TN, USA: IEEE, Jun. 2021, pp. 4368–4377, </a:t>
            </a:r>
            <a:r>
              <a:rPr lang="en-GB" dirty="0" err="1"/>
              <a:t>doi</a:t>
            </a:r>
            <a:r>
              <a:rPr lang="en-GB" dirty="0"/>
              <a:t>: 10.1109/CVPR46437.2021.00435.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K. Hsieh, G. </a:t>
            </a:r>
            <a:r>
              <a:rPr lang="en-GB" dirty="0" err="1"/>
              <a:t>Ananthanarayanan</a:t>
            </a:r>
            <a:r>
              <a:rPr lang="en-GB" dirty="0"/>
              <a:t>, P. </a:t>
            </a:r>
            <a:r>
              <a:rPr lang="en-GB" dirty="0" err="1"/>
              <a:t>Bodik</a:t>
            </a:r>
            <a:r>
              <a:rPr lang="en-GB" dirty="0"/>
              <a:t>, S. Venkataraman, P. Bahl, M. Philipose, P. B. Gibbons, and O. Mutlu, “Focus: Querying Large Video Datasets with Low Latency and Low Cost,” in </a:t>
            </a:r>
            <a:r>
              <a:rPr lang="en-GB" i="1" dirty="0"/>
              <a:t>Proc. 13th USENIX Symposium on Operating Systems Design and Implementation (OSDI 18)</a:t>
            </a:r>
            <a:r>
              <a:rPr lang="en-GB" dirty="0"/>
              <a:t>, Carlsbad, CA, USA, Oct. 2018, pp. 269–286, </a:t>
            </a:r>
            <a:r>
              <a:rPr lang="en-GB" dirty="0" err="1"/>
              <a:t>doi</a:t>
            </a:r>
            <a:r>
              <a:rPr lang="en-GB" dirty="0"/>
              <a:t>: [Details as provided online]. [Online]. Available: </a:t>
            </a:r>
            <a:r>
              <a:rPr lang="en-GB" dirty="0">
                <a:hlinkClick r:id="rId2"/>
              </a:rPr>
              <a:t>https://www.usenix.org/conference/osdi18/presentation/hsieh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D. Kang, J. Emmons, F. Abuzaid, P. Bailis, and M. Zaharia, “</a:t>
            </a:r>
            <a:r>
              <a:rPr lang="en-GB" dirty="0" err="1"/>
              <a:t>NoScope</a:t>
            </a:r>
            <a:r>
              <a:rPr lang="en-GB" dirty="0"/>
              <a:t>: Optimizing Neural Network Queries over Video at Scale,” Aug. 08, 2017, </a:t>
            </a:r>
            <a:r>
              <a:rPr lang="en-GB" dirty="0" err="1"/>
              <a:t>arXiv</a:t>
            </a:r>
            <a:r>
              <a:rPr lang="en-GB" dirty="0"/>
              <a:t>: 1703.02529, </a:t>
            </a:r>
            <a:r>
              <a:rPr lang="en-GB" dirty="0" err="1"/>
              <a:t>doi</a:t>
            </a:r>
            <a:r>
              <a:rPr lang="en-GB" dirty="0"/>
              <a:t>: 10.48550/arXiv.1703.02529.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Alibaba, “Alibaba camera,” 2025. [Online]. Available: </a:t>
            </a:r>
            <a:r>
              <a:rPr lang="en-GB" dirty="0">
                <a:hlinkClick r:id="rId3"/>
              </a:rPr>
              <a:t>https://www.alibaba.com/showroom/vga-cmos-image-sensor.html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S. Han, H. Shen, M. Philipose, S. Agarwal, A. Wolman, and A. Krishnamurthy, “MCDNN: An Approximation-Based Execution Framework for Deep Stream Processing Under Resource Constraints,” in </a:t>
            </a:r>
            <a:r>
              <a:rPr lang="en-GB" i="1" dirty="0"/>
              <a:t>Proc. 14th International Conference on Mobile Systems, Applications, and Services (</a:t>
            </a:r>
            <a:r>
              <a:rPr lang="en-GB" i="1" dirty="0" err="1"/>
              <a:t>MobiSys</a:t>
            </a:r>
            <a:r>
              <a:rPr lang="en-GB" i="1" dirty="0"/>
              <a:t> ’16)</a:t>
            </a:r>
            <a:r>
              <a:rPr lang="en-GB" dirty="0"/>
              <a:t>, Singapore, Singapore, 2016, pp. 123–136, </a:t>
            </a:r>
            <a:r>
              <a:rPr lang="en-GB" dirty="0" err="1"/>
              <a:t>doi</a:t>
            </a:r>
            <a:r>
              <a:rPr lang="en-GB" dirty="0"/>
              <a:t>: 10.1145/2906388.2906396.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H. Shen, S. Han, M. Philipose, and A. Krishnamurthy, “Fast Video Classification via Adaptive Cascading of Deep Models,” 2017, </a:t>
            </a:r>
            <a:r>
              <a:rPr lang="en-GB" dirty="0" err="1"/>
              <a:t>arXiv</a:t>
            </a:r>
            <a:r>
              <a:rPr lang="en-GB" dirty="0"/>
              <a:t>: 1611.06453. [Online]. Available: </a:t>
            </a:r>
            <a:r>
              <a:rPr lang="en-GB" dirty="0">
                <a:hlinkClick r:id="rId4"/>
              </a:rPr>
              <a:t>https://arxiv.org/abs/1611.06453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T. Zhang, A. </a:t>
            </a:r>
            <a:r>
              <a:rPr lang="en-GB" dirty="0" err="1"/>
              <a:t>Chowdhery</a:t>
            </a:r>
            <a:r>
              <a:rPr lang="en-GB" dirty="0"/>
              <a:t>, P. Bahl, K. Jamieson, and S. Banerjee, “The Design and Implementation of a Wireless Video Surveillance System (Vigil),” in </a:t>
            </a:r>
            <a:r>
              <a:rPr lang="en-GB" i="1" dirty="0"/>
              <a:t>Proc. 21st International Conference on Mobile Computing and Networking (</a:t>
            </a:r>
            <a:r>
              <a:rPr lang="en-GB" i="1" dirty="0" err="1"/>
              <a:t>MobiCom</a:t>
            </a:r>
            <a:r>
              <a:rPr lang="en-GB" i="1" dirty="0"/>
              <a:t> ’15)</a:t>
            </a:r>
            <a:r>
              <a:rPr lang="en-GB" dirty="0"/>
              <a:t>, Paris, France, 2015, pp. 426–438, </a:t>
            </a:r>
            <a:r>
              <a:rPr lang="en-GB" dirty="0" err="1"/>
              <a:t>doi</a:t>
            </a:r>
            <a:r>
              <a:rPr lang="en-GB" dirty="0"/>
              <a:t>: 10.1145/2789168.2790123.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H. Zhang, G. </a:t>
            </a:r>
            <a:r>
              <a:rPr lang="en-GB" dirty="0" err="1"/>
              <a:t>Ananthanarayanan</a:t>
            </a:r>
            <a:r>
              <a:rPr lang="en-GB" dirty="0"/>
              <a:t>, P. </a:t>
            </a:r>
            <a:r>
              <a:rPr lang="en-GB" dirty="0" err="1"/>
              <a:t>Bodik</a:t>
            </a:r>
            <a:r>
              <a:rPr lang="en-GB" dirty="0"/>
              <a:t>, M. Philipose, P. Bahl, and M. J. Freedman, “Live Video Analytics at Scale with Approximation and Delay-Tolerance (</a:t>
            </a:r>
            <a:r>
              <a:rPr lang="en-GB" dirty="0" err="1"/>
              <a:t>VideoStorm</a:t>
            </a:r>
            <a:r>
              <a:rPr lang="en-GB" dirty="0"/>
              <a:t>),” in </a:t>
            </a:r>
            <a:r>
              <a:rPr lang="en-GB" i="1" dirty="0"/>
              <a:t>Proc. 14th USENIX Symposium on Networked Systems Design and Implementation (NSDI ’17)</a:t>
            </a:r>
            <a:r>
              <a:rPr lang="en-GB" dirty="0"/>
              <a:t>, Boston, MA, USA, Mar. 2017, pp. 377–392. [Online]. Available: </a:t>
            </a:r>
            <a:r>
              <a:rPr lang="en-GB" dirty="0">
                <a:hlinkClick r:id="rId5"/>
              </a:rPr>
              <a:t>https://www.usenix.org/conference/nsdi17/technical-sessions/presentation/zhang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J. Jiang, G. </a:t>
            </a:r>
            <a:r>
              <a:rPr lang="en-GB" dirty="0" err="1"/>
              <a:t>Ananthanarayanan</a:t>
            </a:r>
            <a:r>
              <a:rPr lang="en-GB" dirty="0"/>
              <a:t>, P. </a:t>
            </a:r>
            <a:r>
              <a:rPr lang="en-GB" dirty="0" err="1"/>
              <a:t>Bodik</a:t>
            </a:r>
            <a:r>
              <a:rPr lang="en-GB" dirty="0"/>
              <a:t>, S. Sen, and I. Stoica, “Chameleon: Scalable Adaptation of Video Analytics,” in </a:t>
            </a:r>
            <a:r>
              <a:rPr lang="en-GB" i="1" dirty="0"/>
              <a:t>Proc. ACM SIGCOMM ’18</a:t>
            </a:r>
            <a:r>
              <a:rPr lang="en-GB" dirty="0"/>
              <a:t>, Budapest, Hungary, 2018, pp. 253–266, </a:t>
            </a:r>
            <a:r>
              <a:rPr lang="en-GB" dirty="0" err="1"/>
              <a:t>doi</a:t>
            </a:r>
            <a:r>
              <a:rPr lang="en-GB" dirty="0"/>
              <a:t>: 10.1145/3230543.3230574.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Y. Li, A. Padmanabhan, P. Zhao, Y. Wang, G. H. Xu, and R. Netravali, “</a:t>
            </a:r>
            <a:r>
              <a:rPr lang="en-GB" dirty="0" err="1"/>
              <a:t>Reducto</a:t>
            </a:r>
            <a:r>
              <a:rPr lang="en-GB" dirty="0"/>
              <a:t>: On-Camera Filtering for Resource-Efficient Real-Time Video Analytics,” in </a:t>
            </a:r>
            <a:r>
              <a:rPr lang="en-GB" i="1" dirty="0"/>
              <a:t>Proc. ACM SIGCOMM ’20</a:t>
            </a:r>
            <a:r>
              <a:rPr lang="en-GB" dirty="0"/>
              <a:t>, Virtual Event, USA, 2020, pp. 359–376, </a:t>
            </a:r>
            <a:r>
              <a:rPr lang="en-GB" dirty="0" err="1"/>
              <a:t>doi</a:t>
            </a:r>
            <a:r>
              <a:rPr lang="en-GB" dirty="0"/>
              <a:t>: 10.1145/3387514.3405874.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C. </a:t>
            </a:r>
            <a:r>
              <a:rPr lang="en-GB" dirty="0" err="1"/>
              <a:t>Canel</a:t>
            </a:r>
            <a:r>
              <a:rPr lang="en-GB" dirty="0"/>
              <a:t>, T. Kim, G. Zhou, C. Li, H. Lim, D. G. Andersen, M. Kaminsky, and S. R. </a:t>
            </a:r>
            <a:r>
              <a:rPr lang="en-GB" dirty="0" err="1"/>
              <a:t>Dulloor</a:t>
            </a:r>
            <a:r>
              <a:rPr lang="en-GB" dirty="0"/>
              <a:t>, “Scaling Video Analytics on Constrained Edge Nodes (</a:t>
            </a:r>
            <a:r>
              <a:rPr lang="en-GB" dirty="0" err="1"/>
              <a:t>FilterForward</a:t>
            </a:r>
            <a:r>
              <a:rPr lang="en-GB" dirty="0"/>
              <a:t>),” 2019, </a:t>
            </a:r>
            <a:r>
              <a:rPr lang="en-GB" dirty="0" err="1"/>
              <a:t>arXiv</a:t>
            </a:r>
            <a:r>
              <a:rPr lang="en-GB" dirty="0"/>
              <a:t>: 1905.13536. [Online]. Available: </a:t>
            </a:r>
            <a:r>
              <a:rPr lang="en-GB" dirty="0">
                <a:hlinkClick r:id="rId6"/>
              </a:rPr>
              <a:t>https://arxiv.org/abs/1905.13536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ONVIF, “ONVIF Profile G,” 2025. [Online]. Available: </a:t>
            </a:r>
            <a:r>
              <a:rPr lang="en-GB" dirty="0">
                <a:hlinkClick r:id="rId7"/>
              </a:rPr>
              <a:t>https://www.onvif.org/profiles/profile-g/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BriefCam</a:t>
            </a:r>
            <a:r>
              <a:rPr lang="en-GB" dirty="0"/>
              <a:t>, “</a:t>
            </a:r>
            <a:r>
              <a:rPr lang="en-GB" dirty="0" err="1"/>
              <a:t>BriefCam</a:t>
            </a:r>
            <a:r>
              <a:rPr lang="en-GB" dirty="0"/>
              <a:t>,” 2025. [Online]. Available: </a:t>
            </a:r>
            <a:r>
              <a:rPr lang="en-GB" dirty="0">
                <a:hlinkClick r:id="rId8"/>
              </a:rPr>
              <a:t>https://www.briefcam.com/</a:t>
            </a:r>
            <a:r>
              <a:rPr lang="en-GB" dirty="0"/>
              <a:t>.</a:t>
            </a: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GB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0236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EEE641A32BF542A0966791141B6C4D" ma:contentTypeVersion="3" ma:contentTypeDescription="Create a new document." ma:contentTypeScope="" ma:versionID="8bf097cd33f0716db9218b90759a6475">
  <xsd:schema xmlns:xsd="http://www.w3.org/2001/XMLSchema" xmlns:xs="http://www.w3.org/2001/XMLSchema" xmlns:p="http://schemas.microsoft.com/office/2006/metadata/properties" xmlns:ns2="7fb3d02d-7685-4fa8-be6b-a838eeec8aba" targetNamespace="http://schemas.microsoft.com/office/2006/metadata/properties" ma:root="true" ma:fieldsID="29e6ced25a3d4e72b593e29718840dd9" ns2:_="">
    <xsd:import namespace="7fb3d02d-7685-4fa8-be6b-a838eeec8a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b3d02d-7685-4fa8-be6b-a838eeec8a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1623CA-29DD-4790-BFD5-D89A69DBB122}">
  <ds:schemaRefs>
    <ds:schemaRef ds:uri="http://purl.org/dc/dcmitype/"/>
    <ds:schemaRef ds:uri="http://schemas.microsoft.com/office/infopath/2007/PartnerControls"/>
    <ds:schemaRef ds:uri="http://www.w3.org/XML/1998/namespace"/>
    <ds:schemaRef ds:uri="7fb3d02d-7685-4fa8-be6b-a838eeec8aba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395941D-C057-429C-BE0E-C0FF16E2DB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b3d02d-7685-4fa8-be6b-a838eeec8a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B4AA97-5BF2-4A26-A3CB-F96E5AE9BB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3797</Words>
  <Application>Microsoft Office PowerPoint</Application>
  <PresentationFormat>Widescreen</PresentationFormat>
  <Paragraphs>330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Calibri Light</vt:lpstr>
      <vt:lpstr>Segoe UI</vt:lpstr>
      <vt:lpstr>Symbol</vt:lpstr>
      <vt:lpstr>Times New Roman</vt:lpstr>
      <vt:lpstr>Wingdings</vt:lpstr>
      <vt:lpstr>Office Theme</vt:lpstr>
      <vt:lpstr>Chameleon: Scalable Adaptation of Video Analytics (Strengths) </vt:lpstr>
      <vt:lpstr>Overview</vt:lpstr>
      <vt:lpstr>Overview</vt:lpstr>
      <vt:lpstr>Strengths of Chameleon</vt:lpstr>
      <vt:lpstr>Dynamic Adaptation</vt:lpstr>
      <vt:lpstr>Strengths of Chameleon</vt:lpstr>
      <vt:lpstr>Strength 1 — Temporal Correlation Optimisation</vt:lpstr>
      <vt:lpstr>Strengths of Chameleon</vt:lpstr>
      <vt:lpstr>Strength 2 — Spatial Correlation Optimisation</vt:lpstr>
      <vt:lpstr>Strengths 1 &amp; 2 — Related Works (1)</vt:lpstr>
      <vt:lpstr>Strengths 1 &amp; 2 — Related Works (2)</vt:lpstr>
      <vt:lpstr>Strengths 1 &amp; 2 — Related Works (3)</vt:lpstr>
      <vt:lpstr>Strengths of Chameleon</vt:lpstr>
      <vt:lpstr>Strength 3 — Smart Profiling Using Knob Independence</vt:lpstr>
      <vt:lpstr>Strength 3 – Related Work (1)</vt:lpstr>
      <vt:lpstr>Strength 3 – Related Work (2)</vt:lpstr>
      <vt:lpstr>Evaluating Strength 1, 2 &amp; 3 Profiling Costs</vt:lpstr>
      <vt:lpstr>Evaluating Strength 1, 2 &amp; 3 Accuracy</vt:lpstr>
      <vt:lpstr>Strengths of Chameleon</vt:lpstr>
      <vt:lpstr>Video analytics</vt:lpstr>
      <vt:lpstr>Optimising analytics</vt:lpstr>
      <vt:lpstr>Optimisers before Chameleon: MCDNN</vt:lpstr>
      <vt:lpstr>Optimisers before Chameleon: Building on MCDNN</vt:lpstr>
      <vt:lpstr>Generalisability</vt:lpstr>
      <vt:lpstr>Strengths of Chameleon</vt:lpstr>
      <vt:lpstr>Video analytics schedulers</vt:lpstr>
      <vt:lpstr>Schedulers before Chameleon</vt:lpstr>
      <vt:lpstr>Static profiling</vt:lpstr>
      <vt:lpstr>Static vs Dynamic profiling</vt:lpstr>
      <vt:lpstr>Dynamic profiling</vt:lpstr>
      <vt:lpstr>Periodic vs Chameleon profiling</vt:lpstr>
      <vt:lpstr>Chameleon and edge</vt:lpstr>
      <vt:lpstr>Improving frame removal with dynamic profiling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Piercy</dc:creator>
  <cp:lastModifiedBy>Ivor Walker</cp:lastModifiedBy>
  <cp:revision>115</cp:revision>
  <dcterms:created xsi:type="dcterms:W3CDTF">2025-03-31T13:11:39Z</dcterms:created>
  <dcterms:modified xsi:type="dcterms:W3CDTF">2025-04-14T15:04:39Z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0x010100EAEEE641A32BF542A0966791141B6C4D</vt:lpwstr>
  </property>
</Properties>
</file>